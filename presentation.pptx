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2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2225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1534" y="619482"/>
            <a:ext cx="5465157" cy="5945910"/>
          </a:xfrm>
          <a:prstGeom prst="rect">
            <a:avLst/>
          </a:prstGeom>
          <a:solidFill>
            <a:srgbClr val="24364B"/>
          </a:solidFill>
          <a:ln w="12700">
            <a:solidFill>
              <a:srgbClr val="2436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960119" y="2148840"/>
            <a:ext cx="3861263" cy="10607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NATURAL LANGUAGE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PROCESSING (NLP)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987552" y="3429000"/>
            <a:ext cx="31089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Food hazard detection ST1 Challenge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960120" y="1005840"/>
            <a:ext cx="310896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COMPUTER SCIENCE AND ENGINEERING, IOANNINA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960120" y="1243584"/>
            <a:ext cx="155448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27/05/2026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987552" y="5349240"/>
            <a:ext cx="34747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ELENI PAPAZOGLOU 5323</a:t>
            </a:r>
            <a:endParaRPr lang="en-US" sz="17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AGLAIA LIANOU 5268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11384280" y="6565392"/>
            <a:ext cx="36576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24364B"/>
          </a:solidFill>
          <a:ln w="12700">
            <a:solidFill>
              <a:srgbClr val="2436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640080"/>
            <a:ext cx="9784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4364B"/>
                </a:solidFill>
              </a:rPr>
              <a:t>Introduction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1133856"/>
            <a:ext cx="10698480" cy="0"/>
          </a:xfrm>
          <a:prstGeom prst="line">
            <a:avLst/>
          </a:prstGeom>
          <a:noFill/>
          <a:ln w="17780">
            <a:solidFill>
              <a:srgbClr val="E989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384280" y="6565392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58368" y="1417320"/>
            <a:ext cx="52578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this project, we worked on the Food Hazard Detection ST1 Challenge. The task was to predict two labels for each food recall incident and submit the final predictions to Kaggle.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31520" y="2542032"/>
            <a:ext cx="15087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989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731520" y="2953512"/>
            <a:ext cx="15087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hazard-category classes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377440" y="2542032"/>
            <a:ext cx="15087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A6F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2377440" y="2953512"/>
            <a:ext cx="15087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product-category classes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977640" y="2542032"/>
            <a:ext cx="15087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7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3977640" y="2953512"/>
            <a:ext cx="15087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target labels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58368" y="3657600"/>
            <a:ext cx="10972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E989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58368" y="3968496"/>
            <a:ext cx="498348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 models on train.csv, evaluate on valid.csv using the official metric, and generate predictions for test.csv.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58368" y="4709160"/>
            <a:ext cx="20116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Kaggle team name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58368" y="5029200"/>
            <a:ext cx="32918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4A6F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‘we're going up up up’</a:t>
            </a:r>
            <a:endParaRPr lang="en-US" sz="1700" dirty="0"/>
          </a:p>
        </p:txBody>
      </p:sp>
      <p:sp>
        <p:nvSpPr>
          <p:cNvPr id="21" name="Text 17"/>
          <p:cNvSpPr/>
          <p:nvPr/>
        </p:nvSpPr>
        <p:spPr>
          <a:xfrm>
            <a:off x="6705602" y="3657600"/>
            <a:ext cx="40233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989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structure followed in this deck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6614162" y="4023360"/>
            <a:ext cx="425196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Introduction → Dataset Analysis → Input Creation → Experimental Workflow → Experiments and Results → Final Model → Kaggle Evaluation → Limitations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24364B"/>
          </a:solidFill>
          <a:ln w="12700">
            <a:solidFill>
              <a:srgbClr val="2436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640080"/>
            <a:ext cx="9784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4364B"/>
                </a:solidFill>
              </a:rPr>
              <a:t>Dataset Analysis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1133856"/>
            <a:ext cx="10698480" cy="0"/>
          </a:xfrm>
          <a:prstGeom prst="line">
            <a:avLst/>
          </a:prstGeom>
          <a:noFill/>
          <a:ln w="17780">
            <a:solidFill>
              <a:srgbClr val="E989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384280" y="6565392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658368" y="1417320"/>
            <a:ext cx="1417320" cy="354330"/>
          </a:xfrm>
          <a:prstGeom prst="rect">
            <a:avLst/>
          </a:prstGeom>
          <a:solidFill>
            <a:srgbClr val="24364B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13232" y="1516532"/>
            <a:ext cx="1307592" cy="1275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075688" y="1417320"/>
            <a:ext cx="1051560" cy="354330"/>
          </a:xfrm>
          <a:prstGeom prst="rect">
            <a:avLst/>
          </a:prstGeom>
          <a:solidFill>
            <a:srgbClr val="24364B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130552" y="1516532"/>
            <a:ext cx="941832" cy="1275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127248" y="1417320"/>
            <a:ext cx="1463040" cy="354330"/>
          </a:xfrm>
          <a:prstGeom prst="rect">
            <a:avLst/>
          </a:prstGeom>
          <a:solidFill>
            <a:srgbClr val="24364B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182112" y="1516532"/>
            <a:ext cx="1353312" cy="1275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Labels available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58368" y="1771650"/>
            <a:ext cx="1417320" cy="354330"/>
          </a:xfrm>
          <a:prstGeom prst="rect">
            <a:avLst/>
          </a:prstGeom>
          <a:solidFill>
            <a:srgbClr val="FFFFFF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13232" y="1870862"/>
            <a:ext cx="1307592" cy="1275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train.csv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2075688" y="1771650"/>
            <a:ext cx="1051560" cy="354330"/>
          </a:xfrm>
          <a:prstGeom prst="rect">
            <a:avLst/>
          </a:prstGeom>
          <a:solidFill>
            <a:srgbClr val="FFFFFF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2130552" y="1870862"/>
            <a:ext cx="941832" cy="1275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5,082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3127248" y="1771650"/>
            <a:ext cx="1463040" cy="354330"/>
          </a:xfrm>
          <a:prstGeom prst="rect">
            <a:avLst/>
          </a:prstGeom>
          <a:solidFill>
            <a:srgbClr val="FFFFFF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3182112" y="1870862"/>
            <a:ext cx="1353312" cy="1275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58368" y="2125980"/>
            <a:ext cx="1417320" cy="354330"/>
          </a:xfrm>
          <a:prstGeom prst="rect">
            <a:avLst/>
          </a:prstGeom>
          <a:solidFill>
            <a:srgbClr val="F0F3F7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713232" y="2225192"/>
            <a:ext cx="1307592" cy="1275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valid.csv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2075688" y="2125980"/>
            <a:ext cx="1051560" cy="354330"/>
          </a:xfrm>
          <a:prstGeom prst="rect">
            <a:avLst/>
          </a:prstGeom>
          <a:solidFill>
            <a:srgbClr val="F0F3F7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2130552" y="2225192"/>
            <a:ext cx="941832" cy="1275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565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3127248" y="2125980"/>
            <a:ext cx="1463040" cy="354330"/>
          </a:xfrm>
          <a:prstGeom prst="rect">
            <a:avLst/>
          </a:prstGeom>
          <a:solidFill>
            <a:srgbClr val="F0F3F7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3182112" y="2225192"/>
            <a:ext cx="1353312" cy="1275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658368" y="2480310"/>
            <a:ext cx="1417320" cy="354330"/>
          </a:xfrm>
          <a:prstGeom prst="rect">
            <a:avLst/>
          </a:prstGeom>
          <a:solidFill>
            <a:srgbClr val="FFFFFF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713232" y="2579522"/>
            <a:ext cx="1307592" cy="1275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test.csv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2075688" y="2480310"/>
            <a:ext cx="1051560" cy="354330"/>
          </a:xfrm>
          <a:prstGeom prst="rect">
            <a:avLst/>
          </a:prstGeom>
          <a:solidFill>
            <a:srgbClr val="FFFFFF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2130552" y="2579522"/>
            <a:ext cx="941832" cy="1275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997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3127248" y="2480310"/>
            <a:ext cx="1463040" cy="354330"/>
          </a:xfrm>
          <a:prstGeom prst="rect">
            <a:avLst/>
          </a:prstGeom>
          <a:solidFill>
            <a:srgbClr val="FFFFFF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3182112" y="2579522"/>
            <a:ext cx="1353312" cy="1275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658368" y="3154680"/>
            <a:ext cx="416052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first step was to load the three CSV files with pandas, inspect shapes and columns, and check missing values. No missing values were found, but safe empty-value handling was kept in the pipeline.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5577840" y="1325880"/>
            <a:ext cx="42976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Hazard-category distribution in train.csv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5623560" y="1700784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allergens</a:t>
            </a:r>
            <a:endParaRPr lang="en-US" sz="820" dirty="0"/>
          </a:p>
        </p:txBody>
      </p:sp>
      <p:sp>
        <p:nvSpPr>
          <p:cNvPr id="36" name="Shape 33"/>
          <p:cNvSpPr/>
          <p:nvPr/>
        </p:nvSpPr>
        <p:spPr>
          <a:xfrm>
            <a:off x="7086600" y="1714500"/>
            <a:ext cx="3657600" cy="109728"/>
          </a:xfrm>
          <a:prstGeom prst="rect">
            <a:avLst/>
          </a:prstGeom>
          <a:solidFill>
            <a:srgbClr val="E9892A"/>
          </a:solidFill>
          <a:ln w="12700">
            <a:solidFill>
              <a:srgbClr val="E989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10771632" y="1696212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1854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5623560" y="2029968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biological</a:t>
            </a:r>
            <a:endParaRPr lang="en-US" sz="820" dirty="0"/>
          </a:p>
        </p:txBody>
      </p:sp>
      <p:sp>
        <p:nvSpPr>
          <p:cNvPr id="39" name="Shape 36"/>
          <p:cNvSpPr/>
          <p:nvPr/>
        </p:nvSpPr>
        <p:spPr>
          <a:xfrm>
            <a:off x="7086600" y="2043684"/>
            <a:ext cx="3434672" cy="109728"/>
          </a:xfrm>
          <a:prstGeom prst="rect">
            <a:avLst/>
          </a:prstGeom>
          <a:solidFill>
            <a:srgbClr val="E9892A"/>
          </a:solidFill>
          <a:ln w="12700">
            <a:solidFill>
              <a:srgbClr val="E989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10771632" y="202539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1741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5623560" y="2359152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foreign bodies</a:t>
            </a:r>
            <a:endParaRPr lang="en-US" sz="820" dirty="0"/>
          </a:p>
        </p:txBody>
      </p:sp>
      <p:sp>
        <p:nvSpPr>
          <p:cNvPr id="42" name="Shape 39"/>
          <p:cNvSpPr/>
          <p:nvPr/>
        </p:nvSpPr>
        <p:spPr>
          <a:xfrm>
            <a:off x="7086600" y="2372868"/>
            <a:ext cx="1106750" cy="109728"/>
          </a:xfrm>
          <a:prstGeom prst="rect">
            <a:avLst/>
          </a:prstGeom>
          <a:solidFill>
            <a:srgbClr val="4A6FAE"/>
          </a:solidFill>
          <a:ln w="12700">
            <a:solidFill>
              <a:srgbClr val="4A6FA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10771632" y="235458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561</a:t>
            </a:r>
            <a:endParaRPr lang="en-US" sz="750" dirty="0"/>
          </a:p>
        </p:txBody>
      </p:sp>
      <p:sp>
        <p:nvSpPr>
          <p:cNvPr id="44" name="Text 41"/>
          <p:cNvSpPr/>
          <p:nvPr/>
        </p:nvSpPr>
        <p:spPr>
          <a:xfrm>
            <a:off x="5623560" y="2688336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fraud</a:t>
            </a:r>
            <a:endParaRPr lang="en-US" sz="820" dirty="0"/>
          </a:p>
        </p:txBody>
      </p:sp>
      <p:sp>
        <p:nvSpPr>
          <p:cNvPr id="45" name="Shape 42"/>
          <p:cNvSpPr/>
          <p:nvPr/>
        </p:nvSpPr>
        <p:spPr>
          <a:xfrm>
            <a:off x="7086600" y="2702052"/>
            <a:ext cx="731915" cy="109728"/>
          </a:xfrm>
          <a:prstGeom prst="rect">
            <a:avLst/>
          </a:prstGeom>
          <a:solidFill>
            <a:srgbClr val="4A6FAE"/>
          </a:solidFill>
          <a:ln w="12700">
            <a:solidFill>
              <a:srgbClr val="4A6FA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10771632" y="2683764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371</a:t>
            </a:r>
            <a:endParaRPr lang="en-US" sz="750" dirty="0"/>
          </a:p>
        </p:txBody>
      </p:sp>
      <p:sp>
        <p:nvSpPr>
          <p:cNvPr id="47" name="Text 44"/>
          <p:cNvSpPr/>
          <p:nvPr/>
        </p:nvSpPr>
        <p:spPr>
          <a:xfrm>
            <a:off x="5623560" y="3017520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chemical</a:t>
            </a:r>
            <a:endParaRPr lang="en-US" sz="820" dirty="0"/>
          </a:p>
        </p:txBody>
      </p:sp>
      <p:sp>
        <p:nvSpPr>
          <p:cNvPr id="48" name="Shape 45"/>
          <p:cNvSpPr/>
          <p:nvPr/>
        </p:nvSpPr>
        <p:spPr>
          <a:xfrm>
            <a:off x="7086600" y="3031236"/>
            <a:ext cx="566198" cy="109728"/>
          </a:xfrm>
          <a:prstGeom prst="rect">
            <a:avLst/>
          </a:prstGeom>
          <a:solidFill>
            <a:srgbClr val="4A6FAE"/>
          </a:solidFill>
          <a:ln w="12700">
            <a:solidFill>
              <a:srgbClr val="4A6FA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6"/>
          <p:cNvSpPr/>
          <p:nvPr/>
        </p:nvSpPr>
        <p:spPr>
          <a:xfrm>
            <a:off x="10771632" y="301294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287</a:t>
            </a:r>
            <a:endParaRPr lang="en-US" sz="750" dirty="0"/>
          </a:p>
        </p:txBody>
      </p:sp>
      <p:sp>
        <p:nvSpPr>
          <p:cNvPr id="50" name="Text 47"/>
          <p:cNvSpPr/>
          <p:nvPr/>
        </p:nvSpPr>
        <p:spPr>
          <a:xfrm>
            <a:off x="5623560" y="3346704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other hazard</a:t>
            </a:r>
            <a:endParaRPr lang="en-US" sz="820" dirty="0"/>
          </a:p>
        </p:txBody>
      </p:sp>
      <p:sp>
        <p:nvSpPr>
          <p:cNvPr id="51" name="Shape 48"/>
          <p:cNvSpPr/>
          <p:nvPr/>
        </p:nvSpPr>
        <p:spPr>
          <a:xfrm>
            <a:off x="7086600" y="3360420"/>
            <a:ext cx="264357" cy="109728"/>
          </a:xfrm>
          <a:prstGeom prst="rect">
            <a:avLst/>
          </a:prstGeom>
          <a:solidFill>
            <a:srgbClr val="4A6FAE"/>
          </a:solidFill>
          <a:ln w="12700">
            <a:solidFill>
              <a:srgbClr val="4A6FA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9"/>
          <p:cNvSpPr/>
          <p:nvPr/>
        </p:nvSpPr>
        <p:spPr>
          <a:xfrm>
            <a:off x="10771632" y="3342132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134</a:t>
            </a:r>
            <a:endParaRPr lang="en-US" sz="750" dirty="0"/>
          </a:p>
        </p:txBody>
      </p:sp>
      <p:sp>
        <p:nvSpPr>
          <p:cNvPr id="53" name="Text 50"/>
          <p:cNvSpPr/>
          <p:nvPr/>
        </p:nvSpPr>
        <p:spPr>
          <a:xfrm>
            <a:off x="5623560" y="3675888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packaging defect</a:t>
            </a:r>
            <a:endParaRPr lang="en-US" sz="820" dirty="0"/>
          </a:p>
        </p:txBody>
      </p:sp>
      <p:sp>
        <p:nvSpPr>
          <p:cNvPr id="54" name="Shape 51"/>
          <p:cNvSpPr/>
          <p:nvPr/>
        </p:nvSpPr>
        <p:spPr>
          <a:xfrm>
            <a:off x="7086600" y="3689604"/>
            <a:ext cx="106532" cy="109728"/>
          </a:xfrm>
          <a:prstGeom prst="rect">
            <a:avLst/>
          </a:prstGeom>
          <a:solidFill>
            <a:srgbClr val="4A6FAE"/>
          </a:solidFill>
          <a:ln w="12700">
            <a:solidFill>
              <a:srgbClr val="4A6FA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2"/>
          <p:cNvSpPr/>
          <p:nvPr/>
        </p:nvSpPr>
        <p:spPr>
          <a:xfrm>
            <a:off x="10771632" y="367131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54</a:t>
            </a:r>
            <a:endParaRPr lang="en-US" sz="750" dirty="0"/>
          </a:p>
        </p:txBody>
      </p:sp>
      <p:sp>
        <p:nvSpPr>
          <p:cNvPr id="56" name="Text 53"/>
          <p:cNvSpPr/>
          <p:nvPr/>
        </p:nvSpPr>
        <p:spPr>
          <a:xfrm>
            <a:off x="5623560" y="4005072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organoleptic aspects</a:t>
            </a:r>
            <a:endParaRPr lang="en-US" sz="820" dirty="0"/>
          </a:p>
        </p:txBody>
      </p:sp>
      <p:sp>
        <p:nvSpPr>
          <p:cNvPr id="57" name="Shape 54"/>
          <p:cNvSpPr/>
          <p:nvPr/>
        </p:nvSpPr>
        <p:spPr>
          <a:xfrm>
            <a:off x="7086600" y="4018788"/>
            <a:ext cx="104559" cy="109728"/>
          </a:xfrm>
          <a:prstGeom prst="rect">
            <a:avLst/>
          </a:prstGeom>
          <a:solidFill>
            <a:srgbClr val="4A6FAE"/>
          </a:solidFill>
          <a:ln w="12700">
            <a:solidFill>
              <a:srgbClr val="4A6FA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5"/>
          <p:cNvSpPr/>
          <p:nvPr/>
        </p:nvSpPr>
        <p:spPr>
          <a:xfrm>
            <a:off x="10771632" y="400050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53</a:t>
            </a:r>
            <a:endParaRPr lang="en-US" sz="750" dirty="0"/>
          </a:p>
        </p:txBody>
      </p:sp>
      <p:sp>
        <p:nvSpPr>
          <p:cNvPr id="59" name="Text 56"/>
          <p:cNvSpPr/>
          <p:nvPr/>
        </p:nvSpPr>
        <p:spPr>
          <a:xfrm>
            <a:off x="5623560" y="4334256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food addictives and flavouring</a:t>
            </a:r>
            <a:endParaRPr lang="en-US" sz="820" dirty="0"/>
          </a:p>
        </p:txBody>
      </p:sp>
      <p:sp>
        <p:nvSpPr>
          <p:cNvPr id="60" name="Shape 57"/>
          <p:cNvSpPr/>
          <p:nvPr/>
        </p:nvSpPr>
        <p:spPr>
          <a:xfrm>
            <a:off x="7086600" y="4347972"/>
            <a:ext cx="47348" cy="109728"/>
          </a:xfrm>
          <a:prstGeom prst="rect">
            <a:avLst/>
          </a:prstGeom>
          <a:solidFill>
            <a:srgbClr val="4A6FAE"/>
          </a:solidFill>
          <a:ln w="12700">
            <a:solidFill>
              <a:srgbClr val="4A6FA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8"/>
          <p:cNvSpPr/>
          <p:nvPr/>
        </p:nvSpPr>
        <p:spPr>
          <a:xfrm>
            <a:off x="10771632" y="4329684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750" dirty="0"/>
          </a:p>
        </p:txBody>
      </p:sp>
      <p:sp>
        <p:nvSpPr>
          <p:cNvPr id="62" name="Text 59"/>
          <p:cNvSpPr/>
          <p:nvPr/>
        </p:nvSpPr>
        <p:spPr>
          <a:xfrm>
            <a:off x="5623560" y="4663440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migration</a:t>
            </a:r>
            <a:endParaRPr lang="en-US" sz="820" dirty="0"/>
          </a:p>
        </p:txBody>
      </p:sp>
      <p:sp>
        <p:nvSpPr>
          <p:cNvPr id="63" name="Shape 60"/>
          <p:cNvSpPr/>
          <p:nvPr/>
        </p:nvSpPr>
        <p:spPr>
          <a:xfrm>
            <a:off x="7086600" y="4677156"/>
            <a:ext cx="27432" cy="109728"/>
          </a:xfrm>
          <a:prstGeom prst="rect">
            <a:avLst/>
          </a:prstGeom>
          <a:solidFill>
            <a:srgbClr val="4A6FAE"/>
          </a:solidFill>
          <a:ln w="12700">
            <a:solidFill>
              <a:srgbClr val="4A6FA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1"/>
          <p:cNvSpPr/>
          <p:nvPr/>
        </p:nvSpPr>
        <p:spPr>
          <a:xfrm>
            <a:off x="10771632" y="465886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50" dirty="0"/>
          </a:p>
        </p:txBody>
      </p:sp>
      <p:sp>
        <p:nvSpPr>
          <p:cNvPr id="65" name="Text 62"/>
          <p:cNvSpPr/>
          <p:nvPr/>
        </p:nvSpPr>
        <p:spPr>
          <a:xfrm>
            <a:off x="658368" y="4526280"/>
            <a:ext cx="18288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E989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observation</a:t>
            </a:r>
            <a:endParaRPr lang="en-US" sz="1500" dirty="0"/>
          </a:p>
        </p:txBody>
      </p:sp>
      <p:sp>
        <p:nvSpPr>
          <p:cNvPr id="66" name="Text 63"/>
          <p:cNvSpPr/>
          <p:nvPr/>
        </p:nvSpPr>
        <p:spPr>
          <a:xfrm>
            <a:off x="658368" y="4864608"/>
            <a:ext cx="44805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label distribution is long-tail / heavily imbalanced. Rare classes are important because the metric uses macro-F1.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24364B"/>
          </a:solidFill>
          <a:ln w="12700">
            <a:solidFill>
              <a:srgbClr val="2436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640080"/>
            <a:ext cx="9784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4364B"/>
                </a:solidFill>
              </a:rPr>
              <a:t>Input Creation and Labels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1133856"/>
            <a:ext cx="10698480" cy="0"/>
          </a:xfrm>
          <a:prstGeom prst="line">
            <a:avLst/>
          </a:prstGeom>
          <a:noFill/>
          <a:ln w="17780">
            <a:solidFill>
              <a:srgbClr val="E989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384280" y="6565392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58368" y="1353312"/>
            <a:ext cx="502920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dataset inspection, a new input_text column was created by combining the available textual fields.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22960" y="214884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E9892A"/>
          </a:solidFill>
          <a:ln w="12700">
            <a:solidFill>
              <a:srgbClr val="E989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22960" y="2304288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title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331720" y="214884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4A6FAE"/>
          </a:solidFill>
          <a:ln w="12700">
            <a:solidFill>
              <a:srgbClr val="4A6FA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331720" y="2304288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840480" y="214884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2E7D63"/>
          </a:solidFill>
          <a:ln w="12700">
            <a:solidFill>
              <a:srgbClr val="2E7D6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840480" y="2304288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metadata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984248" y="2267712"/>
            <a:ext cx="228600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3493008" y="2267712"/>
            <a:ext cx="228600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166360" y="2212848"/>
            <a:ext cx="594360" cy="347472"/>
          </a:xfrm>
          <a:prstGeom prst="rightArrow">
            <a:avLst/>
          </a:prstGeom>
          <a:solidFill>
            <a:srgbClr val="24364B"/>
          </a:solidFill>
          <a:ln w="12700">
            <a:solidFill>
              <a:srgbClr val="2436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5989320" y="2121408"/>
            <a:ext cx="2194560" cy="566928"/>
          </a:xfrm>
          <a:prstGeom prst="roundRect">
            <a:avLst>
              <a:gd name="adj" fmla="val 12903"/>
            </a:avLst>
          </a:prstGeom>
          <a:solidFill>
            <a:srgbClr val="E9EEF8"/>
          </a:solidFill>
          <a:ln w="12700">
            <a:solidFill>
              <a:srgbClr val="4A6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153912" y="2304288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input_text variants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58368" y="3337560"/>
            <a:ext cx="18288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E989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labels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658368" y="3703320"/>
            <a:ext cx="1645920" cy="393192"/>
          </a:xfrm>
          <a:prstGeom prst="rect">
            <a:avLst/>
          </a:prstGeom>
          <a:solidFill>
            <a:srgbClr val="24364B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713232" y="3813414"/>
            <a:ext cx="1536192" cy="1415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2304288" y="3703320"/>
            <a:ext cx="1645920" cy="393192"/>
          </a:xfrm>
          <a:prstGeom prst="rect">
            <a:avLst/>
          </a:prstGeom>
          <a:solidFill>
            <a:srgbClr val="24364B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2359152" y="3813414"/>
            <a:ext cx="1536192" cy="1415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1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3950208" y="3703320"/>
            <a:ext cx="1645920" cy="393192"/>
          </a:xfrm>
          <a:prstGeom prst="rect">
            <a:avLst/>
          </a:prstGeom>
          <a:solidFill>
            <a:srgbClr val="24364B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4005072" y="3813414"/>
            <a:ext cx="1536192" cy="1415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2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658368" y="4096512"/>
            <a:ext cx="164592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713232" y="4206606"/>
            <a:ext cx="1536192" cy="1415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input_text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2304288" y="4096512"/>
            <a:ext cx="164592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2359152" y="4206606"/>
            <a:ext cx="1536192" cy="1415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hazard-category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3950208" y="4096512"/>
            <a:ext cx="164592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4005072" y="4206606"/>
            <a:ext cx="1536192" cy="1415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product-category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6537960" y="3310128"/>
            <a:ext cx="40233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989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 metric used for validation</a:t>
            </a:r>
            <a:endParaRPr lang="en-US" sz="1500" dirty="0"/>
          </a:p>
        </p:txBody>
      </p:sp>
      <p:sp>
        <p:nvSpPr>
          <p:cNvPr id="35" name="Shape 32"/>
          <p:cNvSpPr/>
          <p:nvPr/>
        </p:nvSpPr>
        <p:spPr>
          <a:xfrm>
            <a:off x="6446520" y="3703320"/>
            <a:ext cx="4206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6720840" y="3968496"/>
            <a:ext cx="3657600" cy="3017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(macro-F1 hazard + macro-F1 product when hazard is correct) / 2</a:t>
            </a:r>
            <a:endParaRPr lang="en-US" sz="1500" dirty="0"/>
          </a:p>
        </p:txBody>
      </p:sp>
      <p:sp>
        <p:nvSpPr>
          <p:cNvPr id="37" name="Text 34"/>
          <p:cNvSpPr/>
          <p:nvPr/>
        </p:nvSpPr>
        <p:spPr>
          <a:xfrm>
            <a:off x="6446520" y="4800600"/>
            <a:ext cx="420624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means hazard-category is the first priority: if hazard is wrong, product prediction does not help that example.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24364B"/>
          </a:solidFill>
          <a:ln w="12700">
            <a:solidFill>
              <a:srgbClr val="2436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640080"/>
            <a:ext cx="9784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4364B"/>
                </a:solidFill>
              </a:rPr>
              <a:t>Experimental Workflow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1133856"/>
            <a:ext cx="10698480" cy="0"/>
          </a:xfrm>
          <a:prstGeom prst="line">
            <a:avLst/>
          </a:prstGeom>
          <a:noFill/>
          <a:ln w="17780">
            <a:solidFill>
              <a:srgbClr val="E989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384280" y="6565392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731520" y="1828800"/>
            <a:ext cx="1645920" cy="685800"/>
          </a:xfrm>
          <a:prstGeom prst="roundRect">
            <a:avLst>
              <a:gd name="adj" fmla="val 10667"/>
            </a:avLst>
          </a:prstGeom>
          <a:solidFill>
            <a:srgbClr val="24364B"/>
          </a:solidFill>
          <a:ln w="12700">
            <a:solidFill>
              <a:srgbClr val="2436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22960" y="199339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Textual data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77240" y="2231136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title, text, metadata</a:t>
            </a:r>
            <a:endParaRPr lang="en-US" sz="880" dirty="0"/>
          </a:p>
        </p:txBody>
      </p:sp>
      <p:sp>
        <p:nvSpPr>
          <p:cNvPr id="12" name="Shape 9"/>
          <p:cNvSpPr/>
          <p:nvPr/>
        </p:nvSpPr>
        <p:spPr>
          <a:xfrm>
            <a:off x="2496312" y="2011680"/>
            <a:ext cx="329184" cy="310896"/>
          </a:xfrm>
          <a:prstGeom prst="rightArrow">
            <a:avLst/>
          </a:prstGeom>
          <a:solidFill>
            <a:srgbClr val="4A6FAE"/>
          </a:solidFill>
          <a:ln w="12700">
            <a:solidFill>
              <a:srgbClr val="4A6FA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2880360" y="1828800"/>
            <a:ext cx="1645920" cy="685800"/>
          </a:xfrm>
          <a:prstGeom prst="roundRect">
            <a:avLst>
              <a:gd name="adj" fmla="val 10667"/>
            </a:avLst>
          </a:prstGeom>
          <a:solidFill>
            <a:srgbClr val="24364B"/>
          </a:solidFill>
          <a:ln w="12700">
            <a:solidFill>
              <a:srgbClr val="2436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2971800" y="199339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Preprocessing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926080" y="2231136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 values, input variants</a:t>
            </a:r>
            <a:endParaRPr lang="en-US" sz="880" dirty="0"/>
          </a:p>
        </p:txBody>
      </p:sp>
      <p:sp>
        <p:nvSpPr>
          <p:cNvPr id="16" name="Shape 13"/>
          <p:cNvSpPr/>
          <p:nvPr/>
        </p:nvSpPr>
        <p:spPr>
          <a:xfrm>
            <a:off x="4645152" y="2011680"/>
            <a:ext cx="329184" cy="310896"/>
          </a:xfrm>
          <a:prstGeom prst="rightArrow">
            <a:avLst/>
          </a:prstGeom>
          <a:solidFill>
            <a:srgbClr val="4A6FAE"/>
          </a:solidFill>
          <a:ln w="12700">
            <a:solidFill>
              <a:srgbClr val="4A6FA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5029200" y="1828800"/>
            <a:ext cx="1645920" cy="685800"/>
          </a:xfrm>
          <a:prstGeom prst="roundRect">
            <a:avLst>
              <a:gd name="adj" fmla="val 10667"/>
            </a:avLst>
          </a:prstGeom>
          <a:solidFill>
            <a:srgbClr val="E9892A"/>
          </a:solidFill>
          <a:ln w="12700">
            <a:solidFill>
              <a:srgbClr val="E989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120640" y="199339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extraction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074920" y="2231136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TF-IDF / embeddings</a:t>
            </a:r>
            <a:endParaRPr lang="en-US" sz="880" dirty="0"/>
          </a:p>
        </p:txBody>
      </p:sp>
      <p:sp>
        <p:nvSpPr>
          <p:cNvPr id="20" name="Shape 17"/>
          <p:cNvSpPr/>
          <p:nvPr/>
        </p:nvSpPr>
        <p:spPr>
          <a:xfrm>
            <a:off x="6793992" y="2011680"/>
            <a:ext cx="329184" cy="310896"/>
          </a:xfrm>
          <a:prstGeom prst="rightArrow">
            <a:avLst/>
          </a:prstGeom>
          <a:solidFill>
            <a:srgbClr val="4A6FAE"/>
          </a:solidFill>
          <a:ln w="12700">
            <a:solidFill>
              <a:srgbClr val="4A6FA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7178040" y="1828800"/>
            <a:ext cx="1645920" cy="685800"/>
          </a:xfrm>
          <a:prstGeom prst="roundRect">
            <a:avLst>
              <a:gd name="adj" fmla="val 10667"/>
            </a:avLst>
          </a:prstGeom>
          <a:solidFill>
            <a:srgbClr val="24364B"/>
          </a:solidFill>
          <a:ln w="12700">
            <a:solidFill>
              <a:srgbClr val="2436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7269480" y="199339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learning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223760" y="2231136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classifiers</a:t>
            </a:r>
            <a:endParaRPr lang="en-US" sz="880" dirty="0"/>
          </a:p>
        </p:txBody>
      </p:sp>
      <p:sp>
        <p:nvSpPr>
          <p:cNvPr id="24" name="Shape 21"/>
          <p:cNvSpPr/>
          <p:nvPr/>
        </p:nvSpPr>
        <p:spPr>
          <a:xfrm>
            <a:off x="8942832" y="2011680"/>
            <a:ext cx="329184" cy="310896"/>
          </a:xfrm>
          <a:prstGeom prst="rightArrow">
            <a:avLst/>
          </a:prstGeom>
          <a:solidFill>
            <a:srgbClr val="4A6FAE"/>
          </a:solidFill>
          <a:ln w="12700">
            <a:solidFill>
              <a:srgbClr val="4A6FA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9326880" y="1828800"/>
            <a:ext cx="1645920" cy="685800"/>
          </a:xfrm>
          <a:prstGeom prst="roundRect">
            <a:avLst>
              <a:gd name="adj" fmla="val 10667"/>
            </a:avLst>
          </a:prstGeom>
          <a:solidFill>
            <a:srgbClr val="24364B"/>
          </a:solidFill>
          <a:ln w="12700">
            <a:solidFill>
              <a:srgbClr val="2436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9418320" y="199339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9372600" y="2231136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 metric</a:t>
            </a:r>
            <a:endParaRPr lang="en-US" sz="880" dirty="0"/>
          </a:p>
        </p:txBody>
      </p:sp>
      <p:sp>
        <p:nvSpPr>
          <p:cNvPr id="28" name="Text 25"/>
          <p:cNvSpPr/>
          <p:nvPr/>
        </p:nvSpPr>
        <p:spPr>
          <a:xfrm>
            <a:off x="658368" y="3383280"/>
            <a:ext cx="20116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E989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Experiment strategy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658368" y="3703320"/>
            <a:ext cx="5029200" cy="7863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experiments began with simple classical machine learning baselines and gradually moved to stronger sparse representations, tuned linear models, neural baselines, and final hybrid representations.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6400800" y="3383280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E989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 implementation choice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6400800" y="3703320"/>
            <a:ext cx="4297680" cy="7863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Although hazard and product were predicted with separate classifiers, the official score connects them. Therefore, improvements in hazard prediction were especially valuable.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24364B"/>
          </a:solidFill>
          <a:ln w="12700">
            <a:solidFill>
              <a:srgbClr val="2436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640080"/>
            <a:ext cx="9784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4364B"/>
                </a:solidFill>
              </a:rPr>
              <a:t>Experiments 1–4: Classical TF-IDF Baselines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1133856"/>
            <a:ext cx="10698480" cy="0"/>
          </a:xfrm>
          <a:prstGeom prst="line">
            <a:avLst/>
          </a:prstGeom>
          <a:noFill/>
          <a:ln w="17780">
            <a:solidFill>
              <a:srgbClr val="E989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384280" y="6565392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6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658368" y="1389888"/>
            <a:ext cx="594360" cy="429768"/>
          </a:xfrm>
          <a:prstGeom prst="rect">
            <a:avLst/>
          </a:prstGeom>
          <a:solidFill>
            <a:srgbClr val="24364B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13232" y="1510223"/>
            <a:ext cx="484632" cy="15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Exp.</a:t>
            </a:r>
            <a:endParaRPr lang="en-US" sz="930" dirty="0"/>
          </a:p>
        </p:txBody>
      </p:sp>
      <p:sp>
        <p:nvSpPr>
          <p:cNvPr id="11" name="Shape 8"/>
          <p:cNvSpPr/>
          <p:nvPr/>
        </p:nvSpPr>
        <p:spPr>
          <a:xfrm>
            <a:off x="1252728" y="1389888"/>
            <a:ext cx="3794760" cy="429768"/>
          </a:xfrm>
          <a:prstGeom prst="rect">
            <a:avLst/>
          </a:prstGeom>
          <a:solidFill>
            <a:srgbClr val="24364B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307592" y="1510223"/>
            <a:ext cx="3685032" cy="15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</a:t>
            </a:r>
            <a:endParaRPr lang="en-US" sz="930" dirty="0"/>
          </a:p>
        </p:txBody>
      </p:sp>
      <p:sp>
        <p:nvSpPr>
          <p:cNvPr id="13" name="Shape 10"/>
          <p:cNvSpPr/>
          <p:nvPr/>
        </p:nvSpPr>
        <p:spPr>
          <a:xfrm>
            <a:off x="5047488" y="1389888"/>
            <a:ext cx="1325880" cy="429768"/>
          </a:xfrm>
          <a:prstGeom prst="rect">
            <a:avLst/>
          </a:prstGeom>
          <a:solidFill>
            <a:srgbClr val="24364B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102352" y="1510223"/>
            <a:ext cx="1216152" cy="15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Hazard F1</a:t>
            </a:r>
            <a:endParaRPr lang="en-US" sz="930" dirty="0"/>
          </a:p>
        </p:txBody>
      </p:sp>
      <p:sp>
        <p:nvSpPr>
          <p:cNvPr id="15" name="Shape 12"/>
          <p:cNvSpPr/>
          <p:nvPr/>
        </p:nvSpPr>
        <p:spPr>
          <a:xfrm>
            <a:off x="6373368" y="1389888"/>
            <a:ext cx="1325880" cy="429768"/>
          </a:xfrm>
          <a:prstGeom prst="rect">
            <a:avLst/>
          </a:prstGeom>
          <a:solidFill>
            <a:srgbClr val="24364B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428232" y="1510223"/>
            <a:ext cx="1216152" cy="15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F1*</a:t>
            </a:r>
            <a:endParaRPr lang="en-US" sz="930" dirty="0"/>
          </a:p>
        </p:txBody>
      </p:sp>
      <p:sp>
        <p:nvSpPr>
          <p:cNvPr id="17" name="Shape 14"/>
          <p:cNvSpPr/>
          <p:nvPr/>
        </p:nvSpPr>
        <p:spPr>
          <a:xfrm>
            <a:off x="7699248" y="1389888"/>
            <a:ext cx="1097280" cy="429768"/>
          </a:xfrm>
          <a:prstGeom prst="rect">
            <a:avLst/>
          </a:prstGeom>
          <a:solidFill>
            <a:srgbClr val="24364B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7754112" y="1510223"/>
            <a:ext cx="987552" cy="15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</a:t>
            </a:r>
            <a:endParaRPr lang="en-US" sz="930" dirty="0"/>
          </a:p>
        </p:txBody>
      </p:sp>
      <p:sp>
        <p:nvSpPr>
          <p:cNvPr id="19" name="Shape 16"/>
          <p:cNvSpPr/>
          <p:nvPr/>
        </p:nvSpPr>
        <p:spPr>
          <a:xfrm>
            <a:off x="8796528" y="1389888"/>
            <a:ext cx="1097280" cy="429768"/>
          </a:xfrm>
          <a:prstGeom prst="rect">
            <a:avLst/>
          </a:prstGeom>
          <a:solidFill>
            <a:srgbClr val="24364B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8851392" y="1510223"/>
            <a:ext cx="987552" cy="15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Kaggle</a:t>
            </a:r>
            <a:endParaRPr lang="en-US" sz="930" dirty="0"/>
          </a:p>
        </p:txBody>
      </p:sp>
      <p:sp>
        <p:nvSpPr>
          <p:cNvPr id="21" name="Shape 18"/>
          <p:cNvSpPr/>
          <p:nvPr/>
        </p:nvSpPr>
        <p:spPr>
          <a:xfrm>
            <a:off x="658368" y="1819656"/>
            <a:ext cx="594360" cy="429768"/>
          </a:xfrm>
          <a:prstGeom prst="rect">
            <a:avLst/>
          </a:prstGeom>
          <a:solidFill>
            <a:srgbClr val="FFFFFF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713232" y="1939991"/>
            <a:ext cx="484632" cy="15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30" dirty="0"/>
          </a:p>
        </p:txBody>
      </p:sp>
      <p:sp>
        <p:nvSpPr>
          <p:cNvPr id="23" name="Shape 20"/>
          <p:cNvSpPr/>
          <p:nvPr/>
        </p:nvSpPr>
        <p:spPr>
          <a:xfrm>
            <a:off x="1252728" y="1819656"/>
            <a:ext cx="3794760" cy="429768"/>
          </a:xfrm>
          <a:prstGeom prst="rect">
            <a:avLst/>
          </a:prstGeom>
          <a:solidFill>
            <a:srgbClr val="FFFFFF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1307592" y="1939991"/>
            <a:ext cx="3685032" cy="15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TF-IDF + Logistic Regression</a:t>
            </a:r>
            <a:endParaRPr lang="en-US" sz="930" dirty="0"/>
          </a:p>
        </p:txBody>
      </p:sp>
      <p:sp>
        <p:nvSpPr>
          <p:cNvPr id="25" name="Shape 22"/>
          <p:cNvSpPr/>
          <p:nvPr/>
        </p:nvSpPr>
        <p:spPr>
          <a:xfrm>
            <a:off x="5047488" y="1819656"/>
            <a:ext cx="1325880" cy="429768"/>
          </a:xfrm>
          <a:prstGeom prst="rect">
            <a:avLst/>
          </a:prstGeom>
          <a:solidFill>
            <a:srgbClr val="FFFFFF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5102352" y="1939991"/>
            <a:ext cx="1216152" cy="15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0.7019</a:t>
            </a:r>
            <a:endParaRPr lang="en-US" sz="930" dirty="0"/>
          </a:p>
        </p:txBody>
      </p:sp>
      <p:sp>
        <p:nvSpPr>
          <p:cNvPr id="27" name="Shape 24"/>
          <p:cNvSpPr/>
          <p:nvPr/>
        </p:nvSpPr>
        <p:spPr>
          <a:xfrm>
            <a:off x="6373368" y="1819656"/>
            <a:ext cx="1325880" cy="429768"/>
          </a:xfrm>
          <a:prstGeom prst="rect">
            <a:avLst/>
          </a:prstGeom>
          <a:solidFill>
            <a:srgbClr val="FFFFFF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6428232" y="1939991"/>
            <a:ext cx="1216152" cy="15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0.5000</a:t>
            </a:r>
            <a:endParaRPr lang="en-US" sz="930" dirty="0"/>
          </a:p>
        </p:txBody>
      </p:sp>
      <p:sp>
        <p:nvSpPr>
          <p:cNvPr id="29" name="Shape 26"/>
          <p:cNvSpPr/>
          <p:nvPr/>
        </p:nvSpPr>
        <p:spPr>
          <a:xfrm>
            <a:off x="7699248" y="1819656"/>
            <a:ext cx="1097280" cy="429768"/>
          </a:xfrm>
          <a:prstGeom prst="rect">
            <a:avLst/>
          </a:prstGeom>
          <a:solidFill>
            <a:srgbClr val="FFFFFF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7754112" y="1939991"/>
            <a:ext cx="987552" cy="15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0.6009</a:t>
            </a:r>
            <a:endParaRPr lang="en-US" sz="930" dirty="0"/>
          </a:p>
        </p:txBody>
      </p:sp>
      <p:sp>
        <p:nvSpPr>
          <p:cNvPr id="31" name="Shape 28"/>
          <p:cNvSpPr/>
          <p:nvPr/>
        </p:nvSpPr>
        <p:spPr>
          <a:xfrm>
            <a:off x="8796528" y="1819656"/>
            <a:ext cx="1097280" cy="429768"/>
          </a:xfrm>
          <a:prstGeom prst="rect">
            <a:avLst/>
          </a:prstGeom>
          <a:solidFill>
            <a:srgbClr val="FFFFFF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8851392" y="1939991"/>
            <a:ext cx="987552" cy="15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0.6046</a:t>
            </a:r>
            <a:endParaRPr lang="en-US" sz="930" dirty="0"/>
          </a:p>
        </p:txBody>
      </p:sp>
      <p:sp>
        <p:nvSpPr>
          <p:cNvPr id="33" name="Shape 30"/>
          <p:cNvSpPr/>
          <p:nvPr/>
        </p:nvSpPr>
        <p:spPr>
          <a:xfrm>
            <a:off x="658368" y="2249424"/>
            <a:ext cx="594360" cy="429768"/>
          </a:xfrm>
          <a:prstGeom prst="rect">
            <a:avLst/>
          </a:prstGeom>
          <a:solidFill>
            <a:srgbClr val="F0F3F7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713232" y="2369759"/>
            <a:ext cx="484632" cy="15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30" dirty="0"/>
          </a:p>
        </p:txBody>
      </p:sp>
      <p:sp>
        <p:nvSpPr>
          <p:cNvPr id="35" name="Shape 32"/>
          <p:cNvSpPr/>
          <p:nvPr/>
        </p:nvSpPr>
        <p:spPr>
          <a:xfrm>
            <a:off x="1252728" y="2249424"/>
            <a:ext cx="3794760" cy="429768"/>
          </a:xfrm>
          <a:prstGeom prst="rect">
            <a:avLst/>
          </a:prstGeom>
          <a:solidFill>
            <a:srgbClr val="F0F3F7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1307592" y="2369759"/>
            <a:ext cx="3685032" cy="15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TF-IDF + LinearSVC (C=0.75)</a:t>
            </a:r>
            <a:endParaRPr lang="en-US" sz="930" dirty="0"/>
          </a:p>
        </p:txBody>
      </p:sp>
      <p:sp>
        <p:nvSpPr>
          <p:cNvPr id="37" name="Shape 34"/>
          <p:cNvSpPr/>
          <p:nvPr/>
        </p:nvSpPr>
        <p:spPr>
          <a:xfrm>
            <a:off x="5047488" y="2249424"/>
            <a:ext cx="1325880" cy="429768"/>
          </a:xfrm>
          <a:prstGeom prst="rect">
            <a:avLst/>
          </a:prstGeom>
          <a:solidFill>
            <a:srgbClr val="F0F3F7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5102352" y="2369759"/>
            <a:ext cx="1216152" cy="15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0.7920</a:t>
            </a:r>
            <a:endParaRPr lang="en-US" sz="930" dirty="0"/>
          </a:p>
        </p:txBody>
      </p:sp>
      <p:sp>
        <p:nvSpPr>
          <p:cNvPr id="39" name="Shape 36"/>
          <p:cNvSpPr/>
          <p:nvPr/>
        </p:nvSpPr>
        <p:spPr>
          <a:xfrm>
            <a:off x="6373368" y="2249424"/>
            <a:ext cx="1325880" cy="429768"/>
          </a:xfrm>
          <a:prstGeom prst="rect">
            <a:avLst/>
          </a:prstGeom>
          <a:solidFill>
            <a:srgbClr val="F0F3F7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6428232" y="2369759"/>
            <a:ext cx="1216152" cy="15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0.6842</a:t>
            </a:r>
            <a:endParaRPr lang="en-US" sz="930" dirty="0"/>
          </a:p>
        </p:txBody>
      </p:sp>
      <p:sp>
        <p:nvSpPr>
          <p:cNvPr id="41" name="Shape 38"/>
          <p:cNvSpPr/>
          <p:nvPr/>
        </p:nvSpPr>
        <p:spPr>
          <a:xfrm>
            <a:off x="7699248" y="2249424"/>
            <a:ext cx="1097280" cy="429768"/>
          </a:xfrm>
          <a:prstGeom prst="rect">
            <a:avLst/>
          </a:prstGeom>
          <a:solidFill>
            <a:srgbClr val="F0F3F7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7754112" y="2369759"/>
            <a:ext cx="987552" cy="15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0.7381</a:t>
            </a:r>
            <a:endParaRPr lang="en-US" sz="930" dirty="0"/>
          </a:p>
        </p:txBody>
      </p:sp>
      <p:sp>
        <p:nvSpPr>
          <p:cNvPr id="43" name="Shape 40"/>
          <p:cNvSpPr/>
          <p:nvPr/>
        </p:nvSpPr>
        <p:spPr>
          <a:xfrm>
            <a:off x="8796528" y="2249424"/>
            <a:ext cx="1097280" cy="429768"/>
          </a:xfrm>
          <a:prstGeom prst="rect">
            <a:avLst/>
          </a:prstGeom>
          <a:solidFill>
            <a:srgbClr val="F0F3F7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8851392" y="2369759"/>
            <a:ext cx="987552" cy="15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930" dirty="0"/>
          </a:p>
        </p:txBody>
      </p:sp>
      <p:sp>
        <p:nvSpPr>
          <p:cNvPr id="45" name="Shape 42"/>
          <p:cNvSpPr/>
          <p:nvPr/>
        </p:nvSpPr>
        <p:spPr>
          <a:xfrm>
            <a:off x="658368" y="2679192"/>
            <a:ext cx="594360" cy="429768"/>
          </a:xfrm>
          <a:prstGeom prst="rect">
            <a:avLst/>
          </a:prstGeom>
          <a:solidFill>
            <a:srgbClr val="FFFFFF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713232" y="2799527"/>
            <a:ext cx="484632" cy="15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30" dirty="0"/>
          </a:p>
        </p:txBody>
      </p:sp>
      <p:sp>
        <p:nvSpPr>
          <p:cNvPr id="47" name="Shape 44"/>
          <p:cNvSpPr/>
          <p:nvPr/>
        </p:nvSpPr>
        <p:spPr>
          <a:xfrm>
            <a:off x="1252728" y="2679192"/>
            <a:ext cx="3794760" cy="429768"/>
          </a:xfrm>
          <a:prstGeom prst="rect">
            <a:avLst/>
          </a:prstGeom>
          <a:solidFill>
            <a:srgbClr val="FFFFFF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1307592" y="2799527"/>
            <a:ext cx="3685032" cy="15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Word + Char TF-IDF + LinearSVC</a:t>
            </a:r>
            <a:endParaRPr lang="en-US" sz="930" dirty="0"/>
          </a:p>
        </p:txBody>
      </p:sp>
      <p:sp>
        <p:nvSpPr>
          <p:cNvPr id="49" name="Shape 46"/>
          <p:cNvSpPr/>
          <p:nvPr/>
        </p:nvSpPr>
        <p:spPr>
          <a:xfrm>
            <a:off x="5047488" y="2679192"/>
            <a:ext cx="1325880" cy="429768"/>
          </a:xfrm>
          <a:prstGeom prst="rect">
            <a:avLst/>
          </a:prstGeom>
          <a:solidFill>
            <a:srgbClr val="FFFFFF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/>
          <p:nvPr/>
        </p:nvSpPr>
        <p:spPr>
          <a:xfrm>
            <a:off x="5102352" y="2799527"/>
            <a:ext cx="1216152" cy="15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0.8056</a:t>
            </a:r>
            <a:endParaRPr lang="en-US" sz="930" dirty="0"/>
          </a:p>
        </p:txBody>
      </p:sp>
      <p:sp>
        <p:nvSpPr>
          <p:cNvPr id="51" name="Shape 48"/>
          <p:cNvSpPr/>
          <p:nvPr/>
        </p:nvSpPr>
        <p:spPr>
          <a:xfrm>
            <a:off x="6373368" y="2679192"/>
            <a:ext cx="1325880" cy="429768"/>
          </a:xfrm>
          <a:prstGeom prst="rect">
            <a:avLst/>
          </a:prstGeom>
          <a:solidFill>
            <a:srgbClr val="FFFFFF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9"/>
          <p:cNvSpPr/>
          <p:nvPr/>
        </p:nvSpPr>
        <p:spPr>
          <a:xfrm>
            <a:off x="6428232" y="2799527"/>
            <a:ext cx="1216152" cy="15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0.7161</a:t>
            </a:r>
            <a:endParaRPr lang="en-US" sz="930" dirty="0"/>
          </a:p>
        </p:txBody>
      </p:sp>
      <p:sp>
        <p:nvSpPr>
          <p:cNvPr id="53" name="Shape 50"/>
          <p:cNvSpPr/>
          <p:nvPr/>
        </p:nvSpPr>
        <p:spPr>
          <a:xfrm>
            <a:off x="7699248" y="2679192"/>
            <a:ext cx="1097280" cy="429768"/>
          </a:xfrm>
          <a:prstGeom prst="rect">
            <a:avLst/>
          </a:prstGeom>
          <a:solidFill>
            <a:srgbClr val="FFFFFF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1"/>
          <p:cNvSpPr/>
          <p:nvPr/>
        </p:nvSpPr>
        <p:spPr>
          <a:xfrm>
            <a:off x="7754112" y="2799527"/>
            <a:ext cx="987552" cy="15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0.7608</a:t>
            </a:r>
            <a:endParaRPr lang="en-US" sz="930" dirty="0"/>
          </a:p>
        </p:txBody>
      </p:sp>
      <p:sp>
        <p:nvSpPr>
          <p:cNvPr id="55" name="Shape 52"/>
          <p:cNvSpPr/>
          <p:nvPr/>
        </p:nvSpPr>
        <p:spPr>
          <a:xfrm>
            <a:off x="8796528" y="2679192"/>
            <a:ext cx="1097280" cy="429768"/>
          </a:xfrm>
          <a:prstGeom prst="rect">
            <a:avLst/>
          </a:prstGeom>
          <a:solidFill>
            <a:srgbClr val="FFFFFF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3"/>
          <p:cNvSpPr/>
          <p:nvPr/>
        </p:nvSpPr>
        <p:spPr>
          <a:xfrm>
            <a:off x="8851392" y="2799527"/>
            <a:ext cx="987552" cy="15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0.74841</a:t>
            </a:r>
            <a:endParaRPr lang="en-US" sz="930" dirty="0"/>
          </a:p>
        </p:txBody>
      </p:sp>
      <p:sp>
        <p:nvSpPr>
          <p:cNvPr id="57" name="Shape 54"/>
          <p:cNvSpPr/>
          <p:nvPr/>
        </p:nvSpPr>
        <p:spPr>
          <a:xfrm>
            <a:off x="658368" y="3108960"/>
            <a:ext cx="594360" cy="429768"/>
          </a:xfrm>
          <a:prstGeom prst="rect">
            <a:avLst/>
          </a:prstGeom>
          <a:solidFill>
            <a:srgbClr val="F0F3F7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5"/>
          <p:cNvSpPr/>
          <p:nvPr/>
        </p:nvSpPr>
        <p:spPr>
          <a:xfrm>
            <a:off x="713232" y="3229295"/>
            <a:ext cx="484632" cy="15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30" dirty="0"/>
          </a:p>
        </p:txBody>
      </p:sp>
      <p:sp>
        <p:nvSpPr>
          <p:cNvPr id="59" name="Shape 56"/>
          <p:cNvSpPr/>
          <p:nvPr/>
        </p:nvSpPr>
        <p:spPr>
          <a:xfrm>
            <a:off x="1252728" y="3108960"/>
            <a:ext cx="3794760" cy="429768"/>
          </a:xfrm>
          <a:prstGeom prst="rect">
            <a:avLst/>
          </a:prstGeom>
          <a:solidFill>
            <a:srgbClr val="F0F3F7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7"/>
          <p:cNvSpPr/>
          <p:nvPr/>
        </p:nvSpPr>
        <p:spPr>
          <a:xfrm>
            <a:off x="1307592" y="3229295"/>
            <a:ext cx="3685032" cy="15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Double title + tuned C values</a:t>
            </a:r>
            <a:endParaRPr lang="en-US" sz="930" dirty="0"/>
          </a:p>
        </p:txBody>
      </p:sp>
      <p:sp>
        <p:nvSpPr>
          <p:cNvPr id="61" name="Shape 58"/>
          <p:cNvSpPr/>
          <p:nvPr/>
        </p:nvSpPr>
        <p:spPr>
          <a:xfrm>
            <a:off x="5047488" y="3108960"/>
            <a:ext cx="1325880" cy="429768"/>
          </a:xfrm>
          <a:prstGeom prst="rect">
            <a:avLst/>
          </a:prstGeom>
          <a:solidFill>
            <a:srgbClr val="F0F3F7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59"/>
          <p:cNvSpPr/>
          <p:nvPr/>
        </p:nvSpPr>
        <p:spPr>
          <a:xfrm>
            <a:off x="5102352" y="3229295"/>
            <a:ext cx="1216152" cy="15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0.8123</a:t>
            </a:r>
            <a:endParaRPr lang="en-US" sz="930" dirty="0"/>
          </a:p>
        </p:txBody>
      </p:sp>
      <p:sp>
        <p:nvSpPr>
          <p:cNvPr id="63" name="Shape 60"/>
          <p:cNvSpPr/>
          <p:nvPr/>
        </p:nvSpPr>
        <p:spPr>
          <a:xfrm>
            <a:off x="6373368" y="3108960"/>
            <a:ext cx="1325880" cy="429768"/>
          </a:xfrm>
          <a:prstGeom prst="rect">
            <a:avLst/>
          </a:prstGeom>
          <a:solidFill>
            <a:srgbClr val="F0F3F7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1"/>
          <p:cNvSpPr/>
          <p:nvPr/>
        </p:nvSpPr>
        <p:spPr>
          <a:xfrm>
            <a:off x="6428232" y="3229295"/>
            <a:ext cx="1216152" cy="15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0.7248</a:t>
            </a:r>
            <a:endParaRPr lang="en-US" sz="930" dirty="0"/>
          </a:p>
        </p:txBody>
      </p:sp>
      <p:sp>
        <p:nvSpPr>
          <p:cNvPr id="65" name="Shape 62"/>
          <p:cNvSpPr/>
          <p:nvPr/>
        </p:nvSpPr>
        <p:spPr>
          <a:xfrm>
            <a:off x="7699248" y="3108960"/>
            <a:ext cx="1097280" cy="429768"/>
          </a:xfrm>
          <a:prstGeom prst="rect">
            <a:avLst/>
          </a:prstGeom>
          <a:solidFill>
            <a:srgbClr val="F0F3F7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3"/>
          <p:cNvSpPr/>
          <p:nvPr/>
        </p:nvSpPr>
        <p:spPr>
          <a:xfrm>
            <a:off x="7754112" y="3229295"/>
            <a:ext cx="987552" cy="15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0.7685</a:t>
            </a:r>
            <a:endParaRPr lang="en-US" sz="930" dirty="0"/>
          </a:p>
        </p:txBody>
      </p:sp>
      <p:sp>
        <p:nvSpPr>
          <p:cNvPr id="67" name="Shape 64"/>
          <p:cNvSpPr/>
          <p:nvPr/>
        </p:nvSpPr>
        <p:spPr>
          <a:xfrm>
            <a:off x="8796528" y="3108960"/>
            <a:ext cx="1097280" cy="429768"/>
          </a:xfrm>
          <a:prstGeom prst="rect">
            <a:avLst/>
          </a:prstGeom>
          <a:solidFill>
            <a:srgbClr val="F0F3F7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5"/>
          <p:cNvSpPr/>
          <p:nvPr/>
        </p:nvSpPr>
        <p:spPr>
          <a:xfrm>
            <a:off x="8851392" y="3229295"/>
            <a:ext cx="987552" cy="15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0.7498</a:t>
            </a:r>
            <a:endParaRPr lang="en-US" sz="930" dirty="0"/>
          </a:p>
        </p:txBody>
      </p:sp>
      <p:sp>
        <p:nvSpPr>
          <p:cNvPr id="69" name="Text 66"/>
          <p:cNvSpPr/>
          <p:nvPr/>
        </p:nvSpPr>
        <p:spPr>
          <a:xfrm>
            <a:off x="658368" y="3639312"/>
            <a:ext cx="54864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 Product F1 is calculated only on examples where hazard-category is correct.</a:t>
            </a:r>
            <a:endParaRPr lang="en-US" sz="850" dirty="0"/>
          </a:p>
        </p:txBody>
      </p:sp>
      <p:sp>
        <p:nvSpPr>
          <p:cNvPr id="70" name="Text 67"/>
          <p:cNvSpPr/>
          <p:nvPr/>
        </p:nvSpPr>
        <p:spPr>
          <a:xfrm>
            <a:off x="658368" y="4069080"/>
            <a:ext cx="18288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E989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changed</a:t>
            </a:r>
            <a:endParaRPr lang="en-US" sz="1500" dirty="0"/>
          </a:p>
        </p:txBody>
      </p:sp>
      <p:sp>
        <p:nvSpPr>
          <p:cNvPr id="71" name="Text 68"/>
          <p:cNvSpPr/>
          <p:nvPr/>
        </p:nvSpPr>
        <p:spPr>
          <a:xfrm>
            <a:off x="658368" y="4407408"/>
            <a:ext cx="557784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largest first jump came from replacing Logistic Regression with LinearSVC. Then, adding character n-grams improved robustness to small word variations and repeated title weighting gave the most important field more influence.</a:t>
            </a:r>
            <a:endParaRPr lang="en-US" sz="1300" dirty="0"/>
          </a:p>
        </p:txBody>
      </p:sp>
      <p:sp>
        <p:nvSpPr>
          <p:cNvPr id="72" name="Text 69"/>
          <p:cNvSpPr/>
          <p:nvPr/>
        </p:nvSpPr>
        <p:spPr>
          <a:xfrm>
            <a:off x="6903720" y="4206240"/>
            <a:ext cx="15544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7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+0.1676</a:t>
            </a:r>
            <a:endParaRPr lang="en-US" sz="2400" dirty="0"/>
          </a:p>
        </p:txBody>
      </p:sp>
      <p:sp>
        <p:nvSpPr>
          <p:cNvPr id="73" name="Text 70"/>
          <p:cNvSpPr/>
          <p:nvPr/>
        </p:nvSpPr>
        <p:spPr>
          <a:xfrm>
            <a:off x="6903720" y="4617720"/>
            <a:ext cx="15544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gain from Exp. 1 to Exp. 4</a:t>
            </a:r>
            <a:endParaRPr lang="en-US" sz="1000" dirty="0"/>
          </a:p>
        </p:txBody>
      </p:sp>
      <p:sp>
        <p:nvSpPr>
          <p:cNvPr id="74" name="Text 71"/>
          <p:cNvSpPr/>
          <p:nvPr/>
        </p:nvSpPr>
        <p:spPr>
          <a:xfrm>
            <a:off x="8549640" y="4206240"/>
            <a:ext cx="18288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A6F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C=1 / 1.25</a:t>
            </a:r>
            <a:endParaRPr lang="en-US" sz="2400" dirty="0"/>
          </a:p>
        </p:txBody>
      </p:sp>
      <p:sp>
        <p:nvSpPr>
          <p:cNvPr id="75" name="Text 72"/>
          <p:cNvSpPr/>
          <p:nvPr/>
        </p:nvSpPr>
        <p:spPr>
          <a:xfrm>
            <a:off x="8549640" y="4617720"/>
            <a:ext cx="18288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C values for hazard/product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24364B"/>
          </a:solidFill>
          <a:ln w="12700">
            <a:solidFill>
              <a:srgbClr val="2436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640080"/>
            <a:ext cx="9784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4364B"/>
                </a:solidFill>
              </a:rPr>
              <a:t>Experiments 5–8: Feature Selection, SVD and Input Variants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1133856"/>
            <a:ext cx="10698480" cy="0"/>
          </a:xfrm>
          <a:prstGeom prst="line">
            <a:avLst/>
          </a:prstGeom>
          <a:noFill/>
          <a:ln w="17780">
            <a:solidFill>
              <a:srgbClr val="E989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384280" y="6565392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7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658368" y="1371600"/>
            <a:ext cx="594360" cy="484632"/>
          </a:xfrm>
          <a:prstGeom prst="rect">
            <a:avLst/>
          </a:prstGeom>
          <a:solidFill>
            <a:srgbClr val="24364B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13232" y="1507297"/>
            <a:ext cx="484632" cy="1744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Exp.</a:t>
            </a:r>
            <a:endParaRPr lang="en-US" sz="880" dirty="0"/>
          </a:p>
        </p:txBody>
      </p:sp>
      <p:sp>
        <p:nvSpPr>
          <p:cNvPr id="11" name="Shape 8"/>
          <p:cNvSpPr/>
          <p:nvPr/>
        </p:nvSpPr>
        <p:spPr>
          <a:xfrm>
            <a:off x="1252728" y="1371600"/>
            <a:ext cx="4251960" cy="484632"/>
          </a:xfrm>
          <a:prstGeom prst="rect">
            <a:avLst/>
          </a:prstGeom>
          <a:solidFill>
            <a:srgbClr val="24364B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307592" y="1507297"/>
            <a:ext cx="4142232" cy="1744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</a:t>
            </a:r>
            <a:endParaRPr lang="en-US" sz="880" dirty="0"/>
          </a:p>
        </p:txBody>
      </p:sp>
      <p:sp>
        <p:nvSpPr>
          <p:cNvPr id="13" name="Shape 10"/>
          <p:cNvSpPr/>
          <p:nvPr/>
        </p:nvSpPr>
        <p:spPr>
          <a:xfrm>
            <a:off x="5504688" y="1371600"/>
            <a:ext cx="1143000" cy="484632"/>
          </a:xfrm>
          <a:prstGeom prst="rect">
            <a:avLst/>
          </a:prstGeom>
          <a:solidFill>
            <a:srgbClr val="24364B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559552" y="1507297"/>
            <a:ext cx="1033272" cy="1744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</a:t>
            </a:r>
            <a:endParaRPr lang="en-US" sz="880" dirty="0"/>
          </a:p>
        </p:txBody>
      </p:sp>
      <p:sp>
        <p:nvSpPr>
          <p:cNvPr id="15" name="Shape 12"/>
          <p:cNvSpPr/>
          <p:nvPr/>
        </p:nvSpPr>
        <p:spPr>
          <a:xfrm>
            <a:off x="6647688" y="1371600"/>
            <a:ext cx="3223143" cy="484632"/>
          </a:xfrm>
          <a:prstGeom prst="rect">
            <a:avLst/>
          </a:prstGeom>
          <a:solidFill>
            <a:srgbClr val="24364B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702552" y="1507297"/>
            <a:ext cx="4736592" cy="1744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</a:t>
            </a:r>
            <a:endParaRPr lang="en-US" sz="880" dirty="0"/>
          </a:p>
        </p:txBody>
      </p:sp>
      <p:sp>
        <p:nvSpPr>
          <p:cNvPr id="17" name="Shape 14"/>
          <p:cNvSpPr/>
          <p:nvPr/>
        </p:nvSpPr>
        <p:spPr>
          <a:xfrm>
            <a:off x="658368" y="1856232"/>
            <a:ext cx="594360" cy="484632"/>
          </a:xfrm>
          <a:prstGeom prst="rect">
            <a:avLst/>
          </a:prstGeom>
          <a:solidFill>
            <a:srgbClr val="FFFFFF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713232" y="1991929"/>
            <a:ext cx="484632" cy="1744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80" dirty="0"/>
          </a:p>
        </p:txBody>
      </p:sp>
      <p:sp>
        <p:nvSpPr>
          <p:cNvPr id="19" name="Shape 16"/>
          <p:cNvSpPr/>
          <p:nvPr/>
        </p:nvSpPr>
        <p:spPr>
          <a:xfrm>
            <a:off x="1252728" y="1856232"/>
            <a:ext cx="4251960" cy="484632"/>
          </a:xfrm>
          <a:prstGeom prst="rect">
            <a:avLst/>
          </a:prstGeom>
          <a:solidFill>
            <a:srgbClr val="FFFFFF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1307592" y="1991929"/>
            <a:ext cx="4142232" cy="1744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Word + Char TF-IDF + Chi-square + LinearSVC</a:t>
            </a:r>
            <a:endParaRPr lang="en-US" sz="880" dirty="0"/>
          </a:p>
        </p:txBody>
      </p:sp>
      <p:sp>
        <p:nvSpPr>
          <p:cNvPr id="21" name="Shape 18"/>
          <p:cNvSpPr/>
          <p:nvPr/>
        </p:nvSpPr>
        <p:spPr>
          <a:xfrm>
            <a:off x="5504688" y="1856232"/>
            <a:ext cx="1143000" cy="484632"/>
          </a:xfrm>
          <a:prstGeom prst="rect">
            <a:avLst/>
          </a:prstGeom>
          <a:solidFill>
            <a:srgbClr val="FFFFFF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559552" y="1991929"/>
            <a:ext cx="1033272" cy="1744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0.7608</a:t>
            </a:r>
            <a:endParaRPr lang="en-US" sz="880" dirty="0"/>
          </a:p>
        </p:txBody>
      </p:sp>
      <p:sp>
        <p:nvSpPr>
          <p:cNvPr id="23" name="Shape 20"/>
          <p:cNvSpPr/>
          <p:nvPr/>
        </p:nvSpPr>
        <p:spPr>
          <a:xfrm>
            <a:off x="6647688" y="1856232"/>
            <a:ext cx="3223143" cy="484632"/>
          </a:xfrm>
          <a:prstGeom prst="rect">
            <a:avLst/>
          </a:prstGeom>
          <a:solidFill>
            <a:srgbClr val="FFFFFF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702552" y="1991929"/>
            <a:ext cx="4736592" cy="1744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improvement over full TF-IDF</a:t>
            </a:r>
            <a:endParaRPr lang="en-US" sz="880" dirty="0"/>
          </a:p>
        </p:txBody>
      </p:sp>
      <p:sp>
        <p:nvSpPr>
          <p:cNvPr id="25" name="Shape 22"/>
          <p:cNvSpPr/>
          <p:nvPr/>
        </p:nvSpPr>
        <p:spPr>
          <a:xfrm>
            <a:off x="658368" y="2340864"/>
            <a:ext cx="594360" cy="484632"/>
          </a:xfrm>
          <a:prstGeom prst="rect">
            <a:avLst/>
          </a:prstGeom>
          <a:solidFill>
            <a:srgbClr val="F0F3F7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713232" y="2476561"/>
            <a:ext cx="484632" cy="1744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80" dirty="0"/>
          </a:p>
        </p:txBody>
      </p:sp>
      <p:sp>
        <p:nvSpPr>
          <p:cNvPr id="27" name="Shape 24"/>
          <p:cNvSpPr/>
          <p:nvPr/>
        </p:nvSpPr>
        <p:spPr>
          <a:xfrm>
            <a:off x="1252728" y="2340864"/>
            <a:ext cx="4251960" cy="484632"/>
          </a:xfrm>
          <a:prstGeom prst="rect">
            <a:avLst/>
          </a:prstGeom>
          <a:solidFill>
            <a:srgbClr val="F0F3F7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1307592" y="2476561"/>
            <a:ext cx="4142232" cy="1744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Word + Char TF-IDF + TruncatedSVD/LSI + LinearSVC</a:t>
            </a:r>
            <a:endParaRPr lang="en-US" sz="880" dirty="0"/>
          </a:p>
        </p:txBody>
      </p:sp>
      <p:sp>
        <p:nvSpPr>
          <p:cNvPr id="29" name="Shape 26"/>
          <p:cNvSpPr/>
          <p:nvPr/>
        </p:nvSpPr>
        <p:spPr>
          <a:xfrm>
            <a:off x="5504688" y="2340864"/>
            <a:ext cx="1143000" cy="484632"/>
          </a:xfrm>
          <a:prstGeom prst="rect">
            <a:avLst/>
          </a:prstGeom>
          <a:solidFill>
            <a:srgbClr val="F0F3F7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5559552" y="2476561"/>
            <a:ext cx="1033272" cy="1744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0.6298</a:t>
            </a:r>
            <a:endParaRPr lang="en-US" sz="880" dirty="0"/>
          </a:p>
        </p:txBody>
      </p:sp>
      <p:sp>
        <p:nvSpPr>
          <p:cNvPr id="31" name="Shape 28"/>
          <p:cNvSpPr/>
          <p:nvPr/>
        </p:nvSpPr>
        <p:spPr>
          <a:xfrm>
            <a:off x="6647688" y="2340864"/>
            <a:ext cx="3223143" cy="484632"/>
          </a:xfrm>
          <a:prstGeom prst="rect">
            <a:avLst/>
          </a:prstGeom>
          <a:solidFill>
            <a:srgbClr val="F0F3F7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6710367" y="2476561"/>
            <a:ext cx="4736592" cy="1744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drop: compression removed useful rare signals</a:t>
            </a:r>
            <a:endParaRPr lang="en-US" sz="880" dirty="0"/>
          </a:p>
        </p:txBody>
      </p:sp>
      <p:sp>
        <p:nvSpPr>
          <p:cNvPr id="33" name="Shape 30"/>
          <p:cNvSpPr/>
          <p:nvPr/>
        </p:nvSpPr>
        <p:spPr>
          <a:xfrm>
            <a:off x="658368" y="2825496"/>
            <a:ext cx="594360" cy="484632"/>
          </a:xfrm>
          <a:prstGeom prst="rect">
            <a:avLst/>
          </a:prstGeom>
          <a:solidFill>
            <a:srgbClr val="FFFFFF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713232" y="2961193"/>
            <a:ext cx="484632" cy="1744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880" dirty="0"/>
          </a:p>
        </p:txBody>
      </p:sp>
      <p:sp>
        <p:nvSpPr>
          <p:cNvPr id="35" name="Shape 32"/>
          <p:cNvSpPr/>
          <p:nvPr/>
        </p:nvSpPr>
        <p:spPr>
          <a:xfrm>
            <a:off x="1252728" y="2825496"/>
            <a:ext cx="4251960" cy="484632"/>
          </a:xfrm>
          <a:prstGeom prst="rect">
            <a:avLst/>
          </a:prstGeom>
          <a:solidFill>
            <a:srgbClr val="FFFFFF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1307592" y="2961193"/>
            <a:ext cx="4142232" cy="1744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FastText TF-IDF weighted embeddings + LinearSVC</a:t>
            </a:r>
            <a:endParaRPr lang="en-US" sz="880" dirty="0"/>
          </a:p>
        </p:txBody>
      </p:sp>
      <p:sp>
        <p:nvSpPr>
          <p:cNvPr id="37" name="Shape 34"/>
          <p:cNvSpPr/>
          <p:nvPr/>
        </p:nvSpPr>
        <p:spPr>
          <a:xfrm>
            <a:off x="5504688" y="2825496"/>
            <a:ext cx="1143000" cy="484632"/>
          </a:xfrm>
          <a:prstGeom prst="rect">
            <a:avLst/>
          </a:prstGeom>
          <a:solidFill>
            <a:srgbClr val="FFFFFF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5559552" y="2961193"/>
            <a:ext cx="1033272" cy="1744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0.5129</a:t>
            </a:r>
            <a:endParaRPr lang="en-US" sz="880" dirty="0"/>
          </a:p>
        </p:txBody>
      </p:sp>
      <p:sp>
        <p:nvSpPr>
          <p:cNvPr id="39" name="Shape 36"/>
          <p:cNvSpPr/>
          <p:nvPr/>
        </p:nvSpPr>
        <p:spPr>
          <a:xfrm>
            <a:off x="6647688" y="2825496"/>
            <a:ext cx="3223143" cy="484632"/>
          </a:xfrm>
          <a:prstGeom prst="rect">
            <a:avLst/>
          </a:prstGeom>
          <a:solidFill>
            <a:srgbClr val="FFFFFF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6702552" y="2961193"/>
            <a:ext cx="4736592" cy="1744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Dense embeddings struggled with rare classes</a:t>
            </a:r>
            <a:endParaRPr lang="en-US" sz="880" dirty="0"/>
          </a:p>
        </p:txBody>
      </p:sp>
      <p:sp>
        <p:nvSpPr>
          <p:cNvPr id="41" name="Shape 38"/>
          <p:cNvSpPr/>
          <p:nvPr/>
        </p:nvSpPr>
        <p:spPr>
          <a:xfrm>
            <a:off x="658368" y="3310128"/>
            <a:ext cx="594360" cy="484632"/>
          </a:xfrm>
          <a:prstGeom prst="rect">
            <a:avLst/>
          </a:prstGeom>
          <a:solidFill>
            <a:srgbClr val="F0F3F7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713232" y="3445825"/>
            <a:ext cx="484632" cy="1744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80" dirty="0"/>
          </a:p>
        </p:txBody>
      </p:sp>
      <p:sp>
        <p:nvSpPr>
          <p:cNvPr id="43" name="Shape 40"/>
          <p:cNvSpPr/>
          <p:nvPr/>
        </p:nvSpPr>
        <p:spPr>
          <a:xfrm>
            <a:off x="1252728" y="3310128"/>
            <a:ext cx="4251960" cy="484632"/>
          </a:xfrm>
          <a:prstGeom prst="rect">
            <a:avLst/>
          </a:prstGeom>
          <a:solidFill>
            <a:srgbClr val="F0F3F7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1307592" y="3445825"/>
            <a:ext cx="4142232" cy="1744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Structured input + Word/Char TF-IDF + LinearSVC</a:t>
            </a:r>
            <a:endParaRPr lang="en-US" sz="880" dirty="0"/>
          </a:p>
        </p:txBody>
      </p:sp>
      <p:sp>
        <p:nvSpPr>
          <p:cNvPr id="45" name="Shape 42"/>
          <p:cNvSpPr/>
          <p:nvPr/>
        </p:nvSpPr>
        <p:spPr>
          <a:xfrm>
            <a:off x="5504688" y="3310128"/>
            <a:ext cx="1143000" cy="484632"/>
          </a:xfrm>
          <a:prstGeom prst="rect">
            <a:avLst/>
          </a:prstGeom>
          <a:solidFill>
            <a:srgbClr val="F0F3F7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5559552" y="3445825"/>
            <a:ext cx="1033272" cy="1744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0.7636</a:t>
            </a:r>
            <a:endParaRPr lang="en-US" sz="880" dirty="0"/>
          </a:p>
        </p:txBody>
      </p:sp>
      <p:sp>
        <p:nvSpPr>
          <p:cNvPr id="47" name="Shape 44"/>
          <p:cNvSpPr/>
          <p:nvPr/>
        </p:nvSpPr>
        <p:spPr>
          <a:xfrm>
            <a:off x="6647688" y="3310128"/>
            <a:ext cx="3223143" cy="484632"/>
          </a:xfrm>
          <a:prstGeom prst="rect">
            <a:avLst/>
          </a:prstGeom>
          <a:solidFill>
            <a:srgbClr val="F0F3F7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6702552" y="3445825"/>
            <a:ext cx="4736592" cy="1744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 to best LinearSVC, but not better than Exp. 4</a:t>
            </a:r>
            <a:endParaRPr lang="en-US" sz="880" dirty="0"/>
          </a:p>
        </p:txBody>
      </p:sp>
      <p:sp>
        <p:nvSpPr>
          <p:cNvPr id="49" name="Text 46"/>
          <p:cNvSpPr/>
          <p:nvPr/>
        </p:nvSpPr>
        <p:spPr>
          <a:xfrm>
            <a:off x="658368" y="4069080"/>
            <a:ext cx="27432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E989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lesson from this block</a:t>
            </a:r>
            <a:endParaRPr lang="en-US" sz="1500" dirty="0"/>
          </a:p>
        </p:txBody>
      </p:sp>
      <p:sp>
        <p:nvSpPr>
          <p:cNvPr id="50" name="Text 47"/>
          <p:cNvSpPr/>
          <p:nvPr/>
        </p:nvSpPr>
        <p:spPr>
          <a:xfrm>
            <a:off x="658368" y="4407408"/>
            <a:ext cx="557784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this dataset, the rare words and character patterns were valuable. Dimensionality reduction and dense-only representations lost too much label-specific signal, especially under macro-F1.</a:t>
            </a:r>
            <a:endParaRPr lang="en-US" sz="1300" dirty="0"/>
          </a:p>
        </p:txBody>
      </p:sp>
      <p:sp>
        <p:nvSpPr>
          <p:cNvPr id="51" name="Text 48"/>
          <p:cNvSpPr/>
          <p:nvPr/>
        </p:nvSpPr>
        <p:spPr>
          <a:xfrm>
            <a:off x="6995160" y="4069080"/>
            <a:ext cx="18288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E989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</a:t>
            </a:r>
            <a:endParaRPr lang="en-US" sz="1500" dirty="0"/>
          </a:p>
        </p:txBody>
      </p:sp>
      <p:sp>
        <p:nvSpPr>
          <p:cNvPr id="52" name="Text 49"/>
          <p:cNvSpPr/>
          <p:nvPr/>
        </p:nvSpPr>
        <p:spPr>
          <a:xfrm>
            <a:off x="6995160" y="4407408"/>
            <a:ext cx="35661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Continue with the full Word + Character TF-IDF representation instead of reducing the feature space.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24364B"/>
          </a:solidFill>
          <a:ln w="12700">
            <a:solidFill>
              <a:srgbClr val="2436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640080"/>
            <a:ext cx="9784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4364B"/>
                </a:solidFill>
              </a:rPr>
              <a:t>Experiments 9–15: Hazard Tuning and Classical Grid Search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1133856"/>
            <a:ext cx="10698480" cy="0"/>
          </a:xfrm>
          <a:prstGeom prst="line">
            <a:avLst/>
          </a:prstGeom>
          <a:noFill/>
          <a:ln w="17780">
            <a:solidFill>
              <a:srgbClr val="E989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384280" y="6565392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8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658368" y="1353312"/>
            <a:ext cx="502920" cy="411480"/>
          </a:xfrm>
          <a:prstGeom prst="rect">
            <a:avLst/>
          </a:prstGeom>
          <a:solidFill>
            <a:srgbClr val="24364B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13232" y="1468526"/>
            <a:ext cx="393192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Exp.</a:t>
            </a:r>
            <a:endParaRPr lang="en-US" sz="820" dirty="0"/>
          </a:p>
        </p:txBody>
      </p:sp>
      <p:sp>
        <p:nvSpPr>
          <p:cNvPr id="11" name="Shape 8"/>
          <p:cNvSpPr/>
          <p:nvPr/>
        </p:nvSpPr>
        <p:spPr>
          <a:xfrm>
            <a:off x="1161288" y="1353312"/>
            <a:ext cx="3886200" cy="411480"/>
          </a:xfrm>
          <a:prstGeom prst="rect">
            <a:avLst/>
          </a:prstGeom>
          <a:solidFill>
            <a:srgbClr val="24364B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216152" y="1468526"/>
            <a:ext cx="3776472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</a:t>
            </a:r>
            <a:endParaRPr lang="en-US" sz="820" dirty="0"/>
          </a:p>
        </p:txBody>
      </p:sp>
      <p:sp>
        <p:nvSpPr>
          <p:cNvPr id="13" name="Shape 10"/>
          <p:cNvSpPr/>
          <p:nvPr/>
        </p:nvSpPr>
        <p:spPr>
          <a:xfrm>
            <a:off x="5047488" y="1353312"/>
            <a:ext cx="1143000" cy="411480"/>
          </a:xfrm>
          <a:prstGeom prst="rect">
            <a:avLst/>
          </a:prstGeom>
          <a:solidFill>
            <a:srgbClr val="24364B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102352" y="1468526"/>
            <a:ext cx="1033272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Hazard F1</a:t>
            </a:r>
            <a:endParaRPr lang="en-US" sz="820" dirty="0"/>
          </a:p>
        </p:txBody>
      </p:sp>
      <p:sp>
        <p:nvSpPr>
          <p:cNvPr id="15" name="Shape 12"/>
          <p:cNvSpPr/>
          <p:nvPr/>
        </p:nvSpPr>
        <p:spPr>
          <a:xfrm>
            <a:off x="6190488" y="1353312"/>
            <a:ext cx="1234440" cy="411480"/>
          </a:xfrm>
          <a:prstGeom prst="rect">
            <a:avLst/>
          </a:prstGeom>
          <a:solidFill>
            <a:srgbClr val="24364B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245352" y="1468526"/>
            <a:ext cx="1124712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F1*</a:t>
            </a:r>
            <a:endParaRPr lang="en-US" sz="820" dirty="0"/>
          </a:p>
        </p:txBody>
      </p:sp>
      <p:sp>
        <p:nvSpPr>
          <p:cNvPr id="17" name="Shape 14"/>
          <p:cNvSpPr/>
          <p:nvPr/>
        </p:nvSpPr>
        <p:spPr>
          <a:xfrm>
            <a:off x="7424928" y="1353312"/>
            <a:ext cx="1051560" cy="411480"/>
          </a:xfrm>
          <a:prstGeom prst="rect">
            <a:avLst/>
          </a:prstGeom>
          <a:solidFill>
            <a:srgbClr val="24364B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7479792" y="1468526"/>
            <a:ext cx="941832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</a:t>
            </a:r>
            <a:endParaRPr lang="en-US" sz="820" dirty="0"/>
          </a:p>
        </p:txBody>
      </p:sp>
      <p:sp>
        <p:nvSpPr>
          <p:cNvPr id="19" name="Shape 16"/>
          <p:cNvSpPr/>
          <p:nvPr/>
        </p:nvSpPr>
        <p:spPr>
          <a:xfrm>
            <a:off x="8476487" y="1353312"/>
            <a:ext cx="1316189" cy="411480"/>
          </a:xfrm>
          <a:prstGeom prst="rect">
            <a:avLst/>
          </a:prstGeom>
          <a:solidFill>
            <a:srgbClr val="24364B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8531352" y="1468526"/>
            <a:ext cx="941832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Kaggle</a:t>
            </a:r>
            <a:endParaRPr lang="en-US" sz="820" dirty="0"/>
          </a:p>
        </p:txBody>
      </p:sp>
      <p:sp>
        <p:nvSpPr>
          <p:cNvPr id="21" name="Shape 18"/>
          <p:cNvSpPr/>
          <p:nvPr/>
        </p:nvSpPr>
        <p:spPr>
          <a:xfrm>
            <a:off x="658368" y="1764792"/>
            <a:ext cx="50292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713232" y="1880006"/>
            <a:ext cx="393192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820" dirty="0"/>
          </a:p>
        </p:txBody>
      </p:sp>
      <p:sp>
        <p:nvSpPr>
          <p:cNvPr id="23" name="Shape 20"/>
          <p:cNvSpPr/>
          <p:nvPr/>
        </p:nvSpPr>
        <p:spPr>
          <a:xfrm>
            <a:off x="1161288" y="1764792"/>
            <a:ext cx="38862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1216152" y="1880006"/>
            <a:ext cx="3776472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SGDClassifier hinge loss</a:t>
            </a:r>
            <a:endParaRPr lang="en-US" sz="820" dirty="0"/>
          </a:p>
        </p:txBody>
      </p:sp>
      <p:sp>
        <p:nvSpPr>
          <p:cNvPr id="25" name="Shape 22"/>
          <p:cNvSpPr/>
          <p:nvPr/>
        </p:nvSpPr>
        <p:spPr>
          <a:xfrm>
            <a:off x="5047488" y="1764792"/>
            <a:ext cx="11430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5102352" y="1880006"/>
            <a:ext cx="1033272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0.8377</a:t>
            </a:r>
            <a:endParaRPr lang="en-US" sz="820" dirty="0"/>
          </a:p>
        </p:txBody>
      </p:sp>
      <p:sp>
        <p:nvSpPr>
          <p:cNvPr id="27" name="Shape 24"/>
          <p:cNvSpPr/>
          <p:nvPr/>
        </p:nvSpPr>
        <p:spPr>
          <a:xfrm>
            <a:off x="6190488" y="1764792"/>
            <a:ext cx="123444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6245352" y="1880006"/>
            <a:ext cx="1124712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0.7178</a:t>
            </a:r>
            <a:endParaRPr lang="en-US" sz="820" dirty="0"/>
          </a:p>
        </p:txBody>
      </p:sp>
      <p:sp>
        <p:nvSpPr>
          <p:cNvPr id="29" name="Shape 26"/>
          <p:cNvSpPr/>
          <p:nvPr/>
        </p:nvSpPr>
        <p:spPr>
          <a:xfrm>
            <a:off x="7424928" y="1764792"/>
            <a:ext cx="105156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7479792" y="1880006"/>
            <a:ext cx="941832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0.7778</a:t>
            </a:r>
            <a:endParaRPr lang="en-US" sz="820" dirty="0"/>
          </a:p>
        </p:txBody>
      </p:sp>
      <p:sp>
        <p:nvSpPr>
          <p:cNvPr id="31" name="Shape 28"/>
          <p:cNvSpPr/>
          <p:nvPr/>
        </p:nvSpPr>
        <p:spPr>
          <a:xfrm>
            <a:off x="8476487" y="1764792"/>
            <a:ext cx="1316189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8531352" y="1880006"/>
            <a:ext cx="941832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0.7566</a:t>
            </a:r>
            <a:endParaRPr lang="en-US" sz="820" dirty="0"/>
          </a:p>
        </p:txBody>
      </p:sp>
      <p:sp>
        <p:nvSpPr>
          <p:cNvPr id="33" name="Shape 30"/>
          <p:cNvSpPr/>
          <p:nvPr/>
        </p:nvSpPr>
        <p:spPr>
          <a:xfrm>
            <a:off x="658368" y="2176272"/>
            <a:ext cx="502920" cy="411480"/>
          </a:xfrm>
          <a:prstGeom prst="rect">
            <a:avLst/>
          </a:prstGeom>
          <a:solidFill>
            <a:srgbClr val="F0F3F7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713232" y="2291486"/>
            <a:ext cx="393192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20" dirty="0"/>
          </a:p>
        </p:txBody>
      </p:sp>
      <p:sp>
        <p:nvSpPr>
          <p:cNvPr id="35" name="Shape 32"/>
          <p:cNvSpPr/>
          <p:nvPr/>
        </p:nvSpPr>
        <p:spPr>
          <a:xfrm>
            <a:off x="1161288" y="2176272"/>
            <a:ext cx="3886200" cy="411480"/>
          </a:xfrm>
          <a:prstGeom prst="rect">
            <a:avLst/>
          </a:prstGeom>
          <a:solidFill>
            <a:srgbClr val="F0F3F7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1216152" y="2291486"/>
            <a:ext cx="3776472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Hybrid: SGD hazard + LinearSVC product</a:t>
            </a:r>
            <a:endParaRPr lang="en-US" sz="820" dirty="0"/>
          </a:p>
        </p:txBody>
      </p:sp>
      <p:sp>
        <p:nvSpPr>
          <p:cNvPr id="37" name="Shape 34"/>
          <p:cNvSpPr/>
          <p:nvPr/>
        </p:nvSpPr>
        <p:spPr>
          <a:xfrm>
            <a:off x="5047488" y="2176272"/>
            <a:ext cx="1143000" cy="411480"/>
          </a:xfrm>
          <a:prstGeom prst="rect">
            <a:avLst/>
          </a:prstGeom>
          <a:solidFill>
            <a:srgbClr val="F0F3F7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5102352" y="2291486"/>
            <a:ext cx="1033272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0.8377</a:t>
            </a:r>
            <a:endParaRPr lang="en-US" sz="820" dirty="0"/>
          </a:p>
        </p:txBody>
      </p:sp>
      <p:sp>
        <p:nvSpPr>
          <p:cNvPr id="39" name="Shape 36"/>
          <p:cNvSpPr/>
          <p:nvPr/>
        </p:nvSpPr>
        <p:spPr>
          <a:xfrm>
            <a:off x="6190488" y="2176272"/>
            <a:ext cx="1234440" cy="411480"/>
          </a:xfrm>
          <a:prstGeom prst="rect">
            <a:avLst/>
          </a:prstGeom>
          <a:solidFill>
            <a:srgbClr val="F0F3F7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6245352" y="2291486"/>
            <a:ext cx="1124712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0.7191</a:t>
            </a:r>
            <a:endParaRPr lang="en-US" sz="820" dirty="0"/>
          </a:p>
        </p:txBody>
      </p:sp>
      <p:sp>
        <p:nvSpPr>
          <p:cNvPr id="41" name="Shape 38"/>
          <p:cNvSpPr/>
          <p:nvPr/>
        </p:nvSpPr>
        <p:spPr>
          <a:xfrm>
            <a:off x="7424928" y="2176272"/>
            <a:ext cx="1051560" cy="411480"/>
          </a:xfrm>
          <a:prstGeom prst="rect">
            <a:avLst/>
          </a:prstGeom>
          <a:solidFill>
            <a:srgbClr val="F0F3F7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7479792" y="2291486"/>
            <a:ext cx="941832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0.7784</a:t>
            </a:r>
            <a:endParaRPr lang="en-US" sz="820" dirty="0"/>
          </a:p>
        </p:txBody>
      </p:sp>
      <p:sp>
        <p:nvSpPr>
          <p:cNvPr id="43" name="Shape 40"/>
          <p:cNvSpPr/>
          <p:nvPr/>
        </p:nvSpPr>
        <p:spPr>
          <a:xfrm>
            <a:off x="8476487" y="2176272"/>
            <a:ext cx="1316189" cy="411480"/>
          </a:xfrm>
          <a:prstGeom prst="rect">
            <a:avLst/>
          </a:prstGeom>
          <a:solidFill>
            <a:srgbClr val="F0F3F7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8531352" y="2291486"/>
            <a:ext cx="941832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0.76591</a:t>
            </a:r>
            <a:endParaRPr lang="en-US" sz="820" dirty="0"/>
          </a:p>
        </p:txBody>
      </p:sp>
      <p:sp>
        <p:nvSpPr>
          <p:cNvPr id="45" name="Shape 42"/>
          <p:cNvSpPr/>
          <p:nvPr/>
        </p:nvSpPr>
        <p:spPr>
          <a:xfrm>
            <a:off x="658368" y="2587752"/>
            <a:ext cx="50292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713232" y="2702966"/>
            <a:ext cx="393192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20" dirty="0"/>
          </a:p>
        </p:txBody>
      </p:sp>
      <p:sp>
        <p:nvSpPr>
          <p:cNvPr id="47" name="Shape 44"/>
          <p:cNvSpPr/>
          <p:nvPr/>
        </p:nvSpPr>
        <p:spPr>
          <a:xfrm>
            <a:off x="1161288" y="2587752"/>
            <a:ext cx="38862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1216152" y="2702966"/>
            <a:ext cx="3776472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TF-IDF settings for hazard/product</a:t>
            </a:r>
            <a:endParaRPr lang="en-US" sz="820" dirty="0"/>
          </a:p>
        </p:txBody>
      </p:sp>
      <p:sp>
        <p:nvSpPr>
          <p:cNvPr id="49" name="Shape 46"/>
          <p:cNvSpPr/>
          <p:nvPr/>
        </p:nvSpPr>
        <p:spPr>
          <a:xfrm>
            <a:off x="5047488" y="2587752"/>
            <a:ext cx="11430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/>
          <p:nvPr/>
        </p:nvSpPr>
        <p:spPr>
          <a:xfrm>
            <a:off x="5102352" y="2702966"/>
            <a:ext cx="1033272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0.8377</a:t>
            </a:r>
            <a:endParaRPr lang="en-US" sz="820" dirty="0"/>
          </a:p>
        </p:txBody>
      </p:sp>
      <p:sp>
        <p:nvSpPr>
          <p:cNvPr id="51" name="Shape 48"/>
          <p:cNvSpPr/>
          <p:nvPr/>
        </p:nvSpPr>
        <p:spPr>
          <a:xfrm>
            <a:off x="6190488" y="2587752"/>
            <a:ext cx="123444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9"/>
          <p:cNvSpPr/>
          <p:nvPr/>
        </p:nvSpPr>
        <p:spPr>
          <a:xfrm>
            <a:off x="6245352" y="2702966"/>
            <a:ext cx="1124712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0.7273</a:t>
            </a:r>
            <a:endParaRPr lang="en-US" sz="820" dirty="0"/>
          </a:p>
        </p:txBody>
      </p:sp>
      <p:sp>
        <p:nvSpPr>
          <p:cNvPr id="53" name="Shape 50"/>
          <p:cNvSpPr/>
          <p:nvPr/>
        </p:nvSpPr>
        <p:spPr>
          <a:xfrm>
            <a:off x="7424928" y="2587752"/>
            <a:ext cx="105156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1"/>
          <p:cNvSpPr/>
          <p:nvPr/>
        </p:nvSpPr>
        <p:spPr>
          <a:xfrm>
            <a:off x="7479792" y="2702966"/>
            <a:ext cx="941832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0.7825</a:t>
            </a:r>
            <a:endParaRPr lang="en-US" sz="820" dirty="0"/>
          </a:p>
        </p:txBody>
      </p:sp>
      <p:sp>
        <p:nvSpPr>
          <p:cNvPr id="55" name="Shape 52"/>
          <p:cNvSpPr/>
          <p:nvPr/>
        </p:nvSpPr>
        <p:spPr>
          <a:xfrm>
            <a:off x="8476487" y="2587752"/>
            <a:ext cx="1316189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3"/>
          <p:cNvSpPr/>
          <p:nvPr/>
        </p:nvSpPr>
        <p:spPr>
          <a:xfrm>
            <a:off x="8531352" y="2702966"/>
            <a:ext cx="941832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0.7664</a:t>
            </a:r>
            <a:endParaRPr lang="en-US" sz="820" dirty="0"/>
          </a:p>
        </p:txBody>
      </p:sp>
      <p:sp>
        <p:nvSpPr>
          <p:cNvPr id="57" name="Shape 54"/>
          <p:cNvSpPr/>
          <p:nvPr/>
        </p:nvSpPr>
        <p:spPr>
          <a:xfrm>
            <a:off x="658368" y="2999232"/>
            <a:ext cx="502920" cy="411480"/>
          </a:xfrm>
          <a:prstGeom prst="rect">
            <a:avLst/>
          </a:prstGeom>
          <a:solidFill>
            <a:srgbClr val="F0F3F7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5"/>
          <p:cNvSpPr/>
          <p:nvPr/>
        </p:nvSpPr>
        <p:spPr>
          <a:xfrm>
            <a:off x="713232" y="3114446"/>
            <a:ext cx="393192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20" dirty="0"/>
          </a:p>
        </p:txBody>
      </p:sp>
      <p:sp>
        <p:nvSpPr>
          <p:cNvPr id="59" name="Shape 56"/>
          <p:cNvSpPr/>
          <p:nvPr/>
        </p:nvSpPr>
        <p:spPr>
          <a:xfrm>
            <a:off x="1161288" y="2999232"/>
            <a:ext cx="3886200" cy="411480"/>
          </a:xfrm>
          <a:prstGeom prst="rect">
            <a:avLst/>
          </a:prstGeom>
          <a:solidFill>
            <a:srgbClr val="F0F3F7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7"/>
          <p:cNvSpPr/>
          <p:nvPr/>
        </p:nvSpPr>
        <p:spPr>
          <a:xfrm>
            <a:off x="1216152" y="3114446"/>
            <a:ext cx="3776472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Hazard TF-IDF + alpha tuning</a:t>
            </a:r>
            <a:endParaRPr lang="en-US" sz="820" dirty="0"/>
          </a:p>
        </p:txBody>
      </p:sp>
      <p:sp>
        <p:nvSpPr>
          <p:cNvPr id="61" name="Shape 58"/>
          <p:cNvSpPr/>
          <p:nvPr/>
        </p:nvSpPr>
        <p:spPr>
          <a:xfrm>
            <a:off x="5047488" y="2999232"/>
            <a:ext cx="1143000" cy="411480"/>
          </a:xfrm>
          <a:prstGeom prst="rect">
            <a:avLst/>
          </a:prstGeom>
          <a:solidFill>
            <a:srgbClr val="F0F3F7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59"/>
          <p:cNvSpPr/>
          <p:nvPr/>
        </p:nvSpPr>
        <p:spPr>
          <a:xfrm>
            <a:off x="5102352" y="3114446"/>
            <a:ext cx="1033272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820" dirty="0"/>
          </a:p>
        </p:txBody>
      </p:sp>
      <p:sp>
        <p:nvSpPr>
          <p:cNvPr id="63" name="Shape 60"/>
          <p:cNvSpPr/>
          <p:nvPr/>
        </p:nvSpPr>
        <p:spPr>
          <a:xfrm>
            <a:off x="6190488" y="2999232"/>
            <a:ext cx="1234440" cy="411480"/>
          </a:xfrm>
          <a:prstGeom prst="rect">
            <a:avLst/>
          </a:prstGeom>
          <a:solidFill>
            <a:srgbClr val="F0F3F7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1"/>
          <p:cNvSpPr/>
          <p:nvPr/>
        </p:nvSpPr>
        <p:spPr>
          <a:xfrm>
            <a:off x="6245352" y="3114446"/>
            <a:ext cx="1124712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820" dirty="0"/>
          </a:p>
        </p:txBody>
      </p:sp>
      <p:sp>
        <p:nvSpPr>
          <p:cNvPr id="65" name="Shape 62"/>
          <p:cNvSpPr/>
          <p:nvPr/>
        </p:nvSpPr>
        <p:spPr>
          <a:xfrm>
            <a:off x="7424928" y="2999232"/>
            <a:ext cx="1051560" cy="411480"/>
          </a:xfrm>
          <a:prstGeom prst="rect">
            <a:avLst/>
          </a:prstGeom>
          <a:solidFill>
            <a:srgbClr val="F0F3F7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3"/>
          <p:cNvSpPr/>
          <p:nvPr/>
        </p:nvSpPr>
        <p:spPr>
          <a:xfrm>
            <a:off x="7479792" y="3114446"/>
            <a:ext cx="941832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0.7912</a:t>
            </a:r>
            <a:endParaRPr lang="en-US" sz="820" dirty="0"/>
          </a:p>
        </p:txBody>
      </p:sp>
      <p:sp>
        <p:nvSpPr>
          <p:cNvPr id="67" name="Shape 64"/>
          <p:cNvSpPr/>
          <p:nvPr/>
        </p:nvSpPr>
        <p:spPr>
          <a:xfrm>
            <a:off x="8476487" y="2999232"/>
            <a:ext cx="1316189" cy="411480"/>
          </a:xfrm>
          <a:prstGeom prst="rect">
            <a:avLst/>
          </a:prstGeom>
          <a:solidFill>
            <a:srgbClr val="F0F3F7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5"/>
          <p:cNvSpPr/>
          <p:nvPr/>
        </p:nvSpPr>
        <p:spPr>
          <a:xfrm>
            <a:off x="8531352" y="3114446"/>
            <a:ext cx="941832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0.76890</a:t>
            </a:r>
            <a:endParaRPr lang="en-US" sz="820" dirty="0"/>
          </a:p>
        </p:txBody>
      </p:sp>
      <p:sp>
        <p:nvSpPr>
          <p:cNvPr id="69" name="Shape 66"/>
          <p:cNvSpPr/>
          <p:nvPr/>
        </p:nvSpPr>
        <p:spPr>
          <a:xfrm>
            <a:off x="658368" y="3410712"/>
            <a:ext cx="50292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7"/>
          <p:cNvSpPr/>
          <p:nvPr/>
        </p:nvSpPr>
        <p:spPr>
          <a:xfrm>
            <a:off x="713232" y="3525926"/>
            <a:ext cx="393192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820" dirty="0"/>
          </a:p>
        </p:txBody>
      </p:sp>
      <p:sp>
        <p:nvSpPr>
          <p:cNvPr id="71" name="Shape 68"/>
          <p:cNvSpPr/>
          <p:nvPr/>
        </p:nvSpPr>
        <p:spPr>
          <a:xfrm>
            <a:off x="1161288" y="3410712"/>
            <a:ext cx="38862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69"/>
          <p:cNvSpPr/>
          <p:nvPr/>
        </p:nvSpPr>
        <p:spPr>
          <a:xfrm>
            <a:off x="1216152" y="3525926"/>
            <a:ext cx="3776472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accent normalization</a:t>
            </a:r>
            <a:endParaRPr lang="en-US" sz="820" dirty="0"/>
          </a:p>
        </p:txBody>
      </p:sp>
      <p:sp>
        <p:nvSpPr>
          <p:cNvPr id="73" name="Shape 70"/>
          <p:cNvSpPr/>
          <p:nvPr/>
        </p:nvSpPr>
        <p:spPr>
          <a:xfrm>
            <a:off x="5047488" y="3410712"/>
            <a:ext cx="11430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1"/>
          <p:cNvSpPr/>
          <p:nvPr/>
        </p:nvSpPr>
        <p:spPr>
          <a:xfrm>
            <a:off x="5102352" y="3525926"/>
            <a:ext cx="1033272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0.8522</a:t>
            </a:r>
            <a:endParaRPr lang="en-US" sz="820" dirty="0"/>
          </a:p>
        </p:txBody>
      </p:sp>
      <p:sp>
        <p:nvSpPr>
          <p:cNvPr id="75" name="Shape 72"/>
          <p:cNvSpPr/>
          <p:nvPr/>
        </p:nvSpPr>
        <p:spPr>
          <a:xfrm>
            <a:off x="6190488" y="3410712"/>
            <a:ext cx="123444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3"/>
          <p:cNvSpPr/>
          <p:nvPr/>
        </p:nvSpPr>
        <p:spPr>
          <a:xfrm>
            <a:off x="6245352" y="3525926"/>
            <a:ext cx="1124712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0.7331</a:t>
            </a:r>
            <a:endParaRPr lang="en-US" sz="820" dirty="0"/>
          </a:p>
        </p:txBody>
      </p:sp>
      <p:sp>
        <p:nvSpPr>
          <p:cNvPr id="77" name="Shape 74"/>
          <p:cNvSpPr/>
          <p:nvPr/>
        </p:nvSpPr>
        <p:spPr>
          <a:xfrm>
            <a:off x="7424928" y="3410712"/>
            <a:ext cx="105156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5"/>
          <p:cNvSpPr/>
          <p:nvPr/>
        </p:nvSpPr>
        <p:spPr>
          <a:xfrm>
            <a:off x="7479792" y="3525926"/>
            <a:ext cx="941832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0.7926</a:t>
            </a:r>
            <a:endParaRPr lang="en-US" sz="820" dirty="0"/>
          </a:p>
        </p:txBody>
      </p:sp>
      <p:sp>
        <p:nvSpPr>
          <p:cNvPr id="79" name="Shape 76"/>
          <p:cNvSpPr/>
          <p:nvPr/>
        </p:nvSpPr>
        <p:spPr>
          <a:xfrm>
            <a:off x="8476487" y="3410712"/>
            <a:ext cx="1316189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7"/>
          <p:cNvSpPr/>
          <p:nvPr/>
        </p:nvSpPr>
        <p:spPr>
          <a:xfrm>
            <a:off x="8531352" y="3525926"/>
            <a:ext cx="941832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0.76876</a:t>
            </a:r>
            <a:endParaRPr lang="en-US" sz="820" dirty="0"/>
          </a:p>
        </p:txBody>
      </p:sp>
      <p:sp>
        <p:nvSpPr>
          <p:cNvPr id="81" name="Shape 78"/>
          <p:cNvSpPr/>
          <p:nvPr/>
        </p:nvSpPr>
        <p:spPr>
          <a:xfrm>
            <a:off x="658368" y="3822192"/>
            <a:ext cx="502920" cy="411480"/>
          </a:xfrm>
          <a:prstGeom prst="rect">
            <a:avLst/>
          </a:prstGeom>
          <a:solidFill>
            <a:srgbClr val="F0F3F7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79"/>
          <p:cNvSpPr/>
          <p:nvPr/>
        </p:nvSpPr>
        <p:spPr>
          <a:xfrm>
            <a:off x="713232" y="3937406"/>
            <a:ext cx="393192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820" dirty="0"/>
          </a:p>
        </p:txBody>
      </p:sp>
      <p:sp>
        <p:nvSpPr>
          <p:cNvPr id="83" name="Shape 80"/>
          <p:cNvSpPr/>
          <p:nvPr/>
        </p:nvSpPr>
        <p:spPr>
          <a:xfrm>
            <a:off x="1161288" y="3822192"/>
            <a:ext cx="3886200" cy="411480"/>
          </a:xfrm>
          <a:prstGeom prst="rect">
            <a:avLst/>
          </a:prstGeom>
          <a:solidFill>
            <a:srgbClr val="F0F3F7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1"/>
          <p:cNvSpPr/>
          <p:nvPr/>
        </p:nvSpPr>
        <p:spPr>
          <a:xfrm>
            <a:off x="1216152" y="3937406"/>
            <a:ext cx="3776472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Classical grid search / separate pipelines</a:t>
            </a:r>
            <a:endParaRPr lang="en-US" sz="820" dirty="0"/>
          </a:p>
        </p:txBody>
      </p:sp>
      <p:sp>
        <p:nvSpPr>
          <p:cNvPr id="85" name="Shape 82"/>
          <p:cNvSpPr/>
          <p:nvPr/>
        </p:nvSpPr>
        <p:spPr>
          <a:xfrm>
            <a:off x="5047488" y="3822192"/>
            <a:ext cx="1143000" cy="411480"/>
          </a:xfrm>
          <a:prstGeom prst="rect">
            <a:avLst/>
          </a:prstGeom>
          <a:solidFill>
            <a:srgbClr val="F0F3F7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3"/>
          <p:cNvSpPr/>
          <p:nvPr/>
        </p:nvSpPr>
        <p:spPr>
          <a:xfrm>
            <a:off x="5102352" y="3937406"/>
            <a:ext cx="1033272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0.8582</a:t>
            </a:r>
            <a:endParaRPr lang="en-US" sz="820" dirty="0"/>
          </a:p>
        </p:txBody>
      </p:sp>
      <p:sp>
        <p:nvSpPr>
          <p:cNvPr id="87" name="Shape 84"/>
          <p:cNvSpPr/>
          <p:nvPr/>
        </p:nvSpPr>
        <p:spPr>
          <a:xfrm>
            <a:off x="6190488" y="3822192"/>
            <a:ext cx="1234440" cy="411480"/>
          </a:xfrm>
          <a:prstGeom prst="rect">
            <a:avLst/>
          </a:prstGeom>
          <a:solidFill>
            <a:srgbClr val="F0F3F7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5"/>
          <p:cNvSpPr/>
          <p:nvPr/>
        </p:nvSpPr>
        <p:spPr>
          <a:xfrm>
            <a:off x="6245352" y="3937406"/>
            <a:ext cx="1124712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0.7480</a:t>
            </a:r>
            <a:endParaRPr lang="en-US" sz="820" dirty="0"/>
          </a:p>
        </p:txBody>
      </p:sp>
      <p:sp>
        <p:nvSpPr>
          <p:cNvPr id="89" name="Shape 86"/>
          <p:cNvSpPr/>
          <p:nvPr/>
        </p:nvSpPr>
        <p:spPr>
          <a:xfrm>
            <a:off x="7424928" y="3822192"/>
            <a:ext cx="1051560" cy="411480"/>
          </a:xfrm>
          <a:prstGeom prst="rect">
            <a:avLst/>
          </a:prstGeom>
          <a:solidFill>
            <a:srgbClr val="F0F3F7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7"/>
          <p:cNvSpPr/>
          <p:nvPr/>
        </p:nvSpPr>
        <p:spPr>
          <a:xfrm>
            <a:off x="7479792" y="3937406"/>
            <a:ext cx="941832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0.8031</a:t>
            </a:r>
            <a:endParaRPr lang="en-US" sz="820" dirty="0"/>
          </a:p>
        </p:txBody>
      </p:sp>
      <p:sp>
        <p:nvSpPr>
          <p:cNvPr id="91" name="Shape 88"/>
          <p:cNvSpPr/>
          <p:nvPr/>
        </p:nvSpPr>
        <p:spPr>
          <a:xfrm>
            <a:off x="8476487" y="3822192"/>
            <a:ext cx="1316189" cy="411480"/>
          </a:xfrm>
          <a:prstGeom prst="rect">
            <a:avLst/>
          </a:prstGeom>
          <a:solidFill>
            <a:srgbClr val="F0F3F7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89"/>
          <p:cNvSpPr/>
          <p:nvPr/>
        </p:nvSpPr>
        <p:spPr>
          <a:xfrm>
            <a:off x="8531352" y="3937406"/>
            <a:ext cx="941832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0.77507</a:t>
            </a:r>
            <a:endParaRPr lang="en-US" sz="820" dirty="0"/>
          </a:p>
        </p:txBody>
      </p:sp>
      <p:sp>
        <p:nvSpPr>
          <p:cNvPr id="93" name="Text 90"/>
          <p:cNvSpPr/>
          <p:nvPr/>
        </p:nvSpPr>
        <p:spPr>
          <a:xfrm>
            <a:off x="658368" y="4590288"/>
            <a:ext cx="21945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E989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mattered</a:t>
            </a:r>
            <a:endParaRPr lang="en-US" sz="1500" dirty="0"/>
          </a:p>
        </p:txBody>
      </p:sp>
      <p:sp>
        <p:nvSpPr>
          <p:cNvPr id="94" name="Text 91"/>
          <p:cNvSpPr/>
          <p:nvPr/>
        </p:nvSpPr>
        <p:spPr>
          <a:xfrm>
            <a:off x="658368" y="4928616"/>
            <a:ext cx="525780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SGD with hinge loss improved hazard-category substantially. Since product is evaluated only when hazard is correct, this improved the official metric more than product-only tuning would.</a:t>
            </a:r>
            <a:endParaRPr lang="en-US" sz="1300" dirty="0"/>
          </a:p>
        </p:txBody>
      </p:sp>
      <p:sp>
        <p:nvSpPr>
          <p:cNvPr id="95" name="Text 92"/>
          <p:cNvSpPr/>
          <p:nvPr/>
        </p:nvSpPr>
        <p:spPr>
          <a:xfrm>
            <a:off x="6492240" y="4590288"/>
            <a:ext cx="22860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E989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classical setup</a:t>
            </a:r>
            <a:endParaRPr lang="en-US" sz="1500" dirty="0"/>
          </a:p>
        </p:txBody>
      </p:sp>
      <p:sp>
        <p:nvSpPr>
          <p:cNvPr id="96" name="Text 93"/>
          <p:cNvSpPr/>
          <p:nvPr/>
        </p:nvSpPr>
        <p:spPr>
          <a:xfrm>
            <a:off x="6492240" y="4928616"/>
            <a:ext cx="420624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Exp. 15 used title2_text_meta for hazard and title3_text_meta for product, confirming that separate optimized pipelines were better than one common setup.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24364B"/>
          </a:solidFill>
          <a:ln w="12700">
            <a:solidFill>
              <a:srgbClr val="2436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640080"/>
            <a:ext cx="9784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4364B"/>
                </a:solidFill>
              </a:rPr>
              <a:t>Experiments 16–19: Neural, Embedding and Auxiliary Tests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1133856"/>
            <a:ext cx="10698480" cy="0"/>
          </a:xfrm>
          <a:prstGeom prst="line">
            <a:avLst/>
          </a:prstGeom>
          <a:noFill/>
          <a:ln w="17780">
            <a:solidFill>
              <a:srgbClr val="E989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384280" y="6565392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9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658368" y="1389888"/>
            <a:ext cx="594360" cy="429768"/>
          </a:xfrm>
          <a:prstGeom prst="rect">
            <a:avLst/>
          </a:prstGeom>
          <a:solidFill>
            <a:srgbClr val="24364B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13232" y="1510223"/>
            <a:ext cx="484632" cy="15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Exp.</a:t>
            </a:r>
            <a:endParaRPr lang="en-US" sz="930" dirty="0"/>
          </a:p>
        </p:txBody>
      </p:sp>
      <p:sp>
        <p:nvSpPr>
          <p:cNvPr id="11" name="Shape 8"/>
          <p:cNvSpPr/>
          <p:nvPr/>
        </p:nvSpPr>
        <p:spPr>
          <a:xfrm>
            <a:off x="1252728" y="1389888"/>
            <a:ext cx="3749118" cy="429768"/>
          </a:xfrm>
          <a:prstGeom prst="rect">
            <a:avLst/>
          </a:prstGeom>
          <a:solidFill>
            <a:srgbClr val="24364B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307592" y="1510223"/>
            <a:ext cx="3867912" cy="15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</a:t>
            </a:r>
            <a:endParaRPr lang="en-US" sz="930" dirty="0"/>
          </a:p>
        </p:txBody>
      </p:sp>
      <p:sp>
        <p:nvSpPr>
          <p:cNvPr id="13" name="Shape 10"/>
          <p:cNvSpPr/>
          <p:nvPr/>
        </p:nvSpPr>
        <p:spPr>
          <a:xfrm>
            <a:off x="5001846" y="1389888"/>
            <a:ext cx="1325880" cy="429768"/>
          </a:xfrm>
          <a:prstGeom prst="rect">
            <a:avLst/>
          </a:prstGeom>
          <a:solidFill>
            <a:srgbClr val="24364B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056710" y="1510223"/>
            <a:ext cx="1216152" cy="15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Hazard F1</a:t>
            </a:r>
            <a:endParaRPr lang="en-US" sz="930" dirty="0"/>
          </a:p>
        </p:txBody>
      </p:sp>
      <p:sp>
        <p:nvSpPr>
          <p:cNvPr id="15" name="Shape 12"/>
          <p:cNvSpPr/>
          <p:nvPr/>
        </p:nvSpPr>
        <p:spPr>
          <a:xfrm>
            <a:off x="6327726" y="1389888"/>
            <a:ext cx="1325880" cy="429768"/>
          </a:xfrm>
          <a:prstGeom prst="rect">
            <a:avLst/>
          </a:prstGeom>
          <a:solidFill>
            <a:srgbClr val="24364B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382590" y="1510223"/>
            <a:ext cx="1216152" cy="15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F1*</a:t>
            </a:r>
            <a:endParaRPr lang="en-US" sz="930" dirty="0"/>
          </a:p>
        </p:txBody>
      </p:sp>
      <p:sp>
        <p:nvSpPr>
          <p:cNvPr id="17" name="Shape 14"/>
          <p:cNvSpPr/>
          <p:nvPr/>
        </p:nvSpPr>
        <p:spPr>
          <a:xfrm>
            <a:off x="7653606" y="1389888"/>
            <a:ext cx="1097280" cy="429768"/>
          </a:xfrm>
          <a:prstGeom prst="rect">
            <a:avLst/>
          </a:prstGeom>
          <a:solidFill>
            <a:srgbClr val="24364B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7708470" y="1510223"/>
            <a:ext cx="987552" cy="15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</a:t>
            </a:r>
            <a:endParaRPr lang="en-US" sz="930" dirty="0"/>
          </a:p>
        </p:txBody>
      </p:sp>
      <p:sp>
        <p:nvSpPr>
          <p:cNvPr id="19" name="Shape 16"/>
          <p:cNvSpPr/>
          <p:nvPr/>
        </p:nvSpPr>
        <p:spPr>
          <a:xfrm>
            <a:off x="8750886" y="1389888"/>
            <a:ext cx="1097280" cy="429768"/>
          </a:xfrm>
          <a:prstGeom prst="rect">
            <a:avLst/>
          </a:prstGeom>
          <a:solidFill>
            <a:srgbClr val="24364B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8805750" y="1510223"/>
            <a:ext cx="987552" cy="15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Kaggle</a:t>
            </a:r>
            <a:endParaRPr lang="en-US" sz="930" dirty="0"/>
          </a:p>
        </p:txBody>
      </p:sp>
      <p:sp>
        <p:nvSpPr>
          <p:cNvPr id="21" name="Shape 18"/>
          <p:cNvSpPr/>
          <p:nvPr/>
        </p:nvSpPr>
        <p:spPr>
          <a:xfrm>
            <a:off x="658368" y="1819656"/>
            <a:ext cx="594360" cy="429768"/>
          </a:xfrm>
          <a:prstGeom prst="rect">
            <a:avLst/>
          </a:prstGeom>
          <a:solidFill>
            <a:srgbClr val="FFFFFF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713232" y="1939991"/>
            <a:ext cx="484632" cy="15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930" dirty="0"/>
          </a:p>
        </p:txBody>
      </p:sp>
      <p:sp>
        <p:nvSpPr>
          <p:cNvPr id="23" name="Shape 20"/>
          <p:cNvSpPr/>
          <p:nvPr/>
        </p:nvSpPr>
        <p:spPr>
          <a:xfrm>
            <a:off x="1252728" y="1819656"/>
            <a:ext cx="3749118" cy="429768"/>
          </a:xfrm>
          <a:prstGeom prst="rect">
            <a:avLst/>
          </a:prstGeom>
          <a:solidFill>
            <a:srgbClr val="FFFFFF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1307592" y="1939991"/>
            <a:ext cx="3867912" cy="15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RoBERTa-base for both labels</a:t>
            </a:r>
            <a:endParaRPr lang="en-US" sz="930" dirty="0"/>
          </a:p>
        </p:txBody>
      </p:sp>
      <p:sp>
        <p:nvSpPr>
          <p:cNvPr id="25" name="Shape 22"/>
          <p:cNvSpPr/>
          <p:nvPr/>
        </p:nvSpPr>
        <p:spPr>
          <a:xfrm>
            <a:off x="5001846" y="1819656"/>
            <a:ext cx="1325880" cy="429768"/>
          </a:xfrm>
          <a:prstGeom prst="rect">
            <a:avLst/>
          </a:prstGeom>
          <a:solidFill>
            <a:srgbClr val="FFFFFF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5056710" y="1939991"/>
            <a:ext cx="1216152" cy="15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0.8755</a:t>
            </a:r>
            <a:endParaRPr lang="en-US" sz="930" dirty="0"/>
          </a:p>
        </p:txBody>
      </p:sp>
      <p:sp>
        <p:nvSpPr>
          <p:cNvPr id="27" name="Shape 24"/>
          <p:cNvSpPr/>
          <p:nvPr/>
        </p:nvSpPr>
        <p:spPr>
          <a:xfrm>
            <a:off x="6327726" y="1819656"/>
            <a:ext cx="1325880" cy="429768"/>
          </a:xfrm>
          <a:prstGeom prst="rect">
            <a:avLst/>
          </a:prstGeom>
          <a:solidFill>
            <a:srgbClr val="FFFFFF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6382590" y="1939991"/>
            <a:ext cx="1216152" cy="15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0.7083</a:t>
            </a:r>
            <a:endParaRPr lang="en-US" sz="930" dirty="0"/>
          </a:p>
        </p:txBody>
      </p:sp>
      <p:sp>
        <p:nvSpPr>
          <p:cNvPr id="29" name="Shape 26"/>
          <p:cNvSpPr/>
          <p:nvPr/>
        </p:nvSpPr>
        <p:spPr>
          <a:xfrm>
            <a:off x="7653606" y="1819656"/>
            <a:ext cx="1097280" cy="429768"/>
          </a:xfrm>
          <a:prstGeom prst="rect">
            <a:avLst/>
          </a:prstGeom>
          <a:solidFill>
            <a:srgbClr val="FFFFFF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7708470" y="1939991"/>
            <a:ext cx="987552" cy="15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0.7919</a:t>
            </a:r>
            <a:endParaRPr lang="en-US" sz="930" dirty="0"/>
          </a:p>
        </p:txBody>
      </p:sp>
      <p:sp>
        <p:nvSpPr>
          <p:cNvPr id="31" name="Shape 28"/>
          <p:cNvSpPr/>
          <p:nvPr/>
        </p:nvSpPr>
        <p:spPr>
          <a:xfrm>
            <a:off x="8750886" y="1819656"/>
            <a:ext cx="1097280" cy="429768"/>
          </a:xfrm>
          <a:prstGeom prst="rect">
            <a:avLst/>
          </a:prstGeom>
          <a:solidFill>
            <a:srgbClr val="FFFFFF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8805750" y="1939991"/>
            <a:ext cx="987552" cy="15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0.68984</a:t>
            </a:r>
            <a:endParaRPr lang="en-US" sz="930" dirty="0"/>
          </a:p>
        </p:txBody>
      </p:sp>
      <p:sp>
        <p:nvSpPr>
          <p:cNvPr id="33" name="Shape 30"/>
          <p:cNvSpPr/>
          <p:nvPr/>
        </p:nvSpPr>
        <p:spPr>
          <a:xfrm>
            <a:off x="658368" y="2249424"/>
            <a:ext cx="594360" cy="429768"/>
          </a:xfrm>
          <a:prstGeom prst="rect">
            <a:avLst/>
          </a:prstGeom>
          <a:solidFill>
            <a:srgbClr val="F0F3F7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713232" y="2369759"/>
            <a:ext cx="484632" cy="15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930" dirty="0"/>
          </a:p>
        </p:txBody>
      </p:sp>
      <p:sp>
        <p:nvSpPr>
          <p:cNvPr id="35" name="Shape 32"/>
          <p:cNvSpPr/>
          <p:nvPr/>
        </p:nvSpPr>
        <p:spPr>
          <a:xfrm>
            <a:off x="1252728" y="2249424"/>
            <a:ext cx="3749118" cy="429768"/>
          </a:xfrm>
          <a:prstGeom prst="rect">
            <a:avLst/>
          </a:prstGeom>
          <a:solidFill>
            <a:srgbClr val="F0F3F7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1307592" y="2369759"/>
            <a:ext cx="3867912" cy="15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RoBERTa hazard + SVC product</a:t>
            </a:r>
            <a:endParaRPr lang="en-US" sz="930" dirty="0"/>
          </a:p>
        </p:txBody>
      </p:sp>
      <p:sp>
        <p:nvSpPr>
          <p:cNvPr id="37" name="Shape 34"/>
          <p:cNvSpPr/>
          <p:nvPr/>
        </p:nvSpPr>
        <p:spPr>
          <a:xfrm>
            <a:off x="5001846" y="2249424"/>
            <a:ext cx="1325880" cy="429768"/>
          </a:xfrm>
          <a:prstGeom prst="rect">
            <a:avLst/>
          </a:prstGeom>
          <a:solidFill>
            <a:srgbClr val="F0F3F7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5056710" y="2369759"/>
            <a:ext cx="1216152" cy="15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0.8430</a:t>
            </a:r>
            <a:endParaRPr lang="en-US" sz="930" dirty="0"/>
          </a:p>
        </p:txBody>
      </p:sp>
      <p:sp>
        <p:nvSpPr>
          <p:cNvPr id="39" name="Shape 36"/>
          <p:cNvSpPr/>
          <p:nvPr/>
        </p:nvSpPr>
        <p:spPr>
          <a:xfrm>
            <a:off x="6327726" y="2249424"/>
            <a:ext cx="1325880" cy="429768"/>
          </a:xfrm>
          <a:prstGeom prst="rect">
            <a:avLst/>
          </a:prstGeom>
          <a:solidFill>
            <a:srgbClr val="F0F3F7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6382590" y="2369759"/>
            <a:ext cx="1216152" cy="15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0.6799</a:t>
            </a:r>
            <a:endParaRPr lang="en-US" sz="930" dirty="0"/>
          </a:p>
        </p:txBody>
      </p:sp>
      <p:sp>
        <p:nvSpPr>
          <p:cNvPr id="41" name="Shape 38"/>
          <p:cNvSpPr/>
          <p:nvPr/>
        </p:nvSpPr>
        <p:spPr>
          <a:xfrm>
            <a:off x="7653606" y="2249424"/>
            <a:ext cx="1097280" cy="429768"/>
          </a:xfrm>
          <a:prstGeom prst="rect">
            <a:avLst/>
          </a:prstGeom>
          <a:solidFill>
            <a:srgbClr val="F0F3F7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7708470" y="2369759"/>
            <a:ext cx="987552" cy="15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0.7614</a:t>
            </a:r>
            <a:endParaRPr lang="en-US" sz="930" dirty="0"/>
          </a:p>
        </p:txBody>
      </p:sp>
      <p:sp>
        <p:nvSpPr>
          <p:cNvPr id="43" name="Shape 40"/>
          <p:cNvSpPr/>
          <p:nvPr/>
        </p:nvSpPr>
        <p:spPr>
          <a:xfrm>
            <a:off x="8750886" y="2249424"/>
            <a:ext cx="1097280" cy="429768"/>
          </a:xfrm>
          <a:prstGeom prst="rect">
            <a:avLst/>
          </a:prstGeom>
          <a:solidFill>
            <a:srgbClr val="F0F3F7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8805750" y="2369759"/>
            <a:ext cx="987552" cy="15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0.73277</a:t>
            </a:r>
            <a:endParaRPr lang="en-US" sz="930" dirty="0"/>
          </a:p>
        </p:txBody>
      </p:sp>
      <p:sp>
        <p:nvSpPr>
          <p:cNvPr id="45" name="Shape 42"/>
          <p:cNvSpPr/>
          <p:nvPr/>
        </p:nvSpPr>
        <p:spPr>
          <a:xfrm>
            <a:off x="658368" y="2679192"/>
            <a:ext cx="594360" cy="429768"/>
          </a:xfrm>
          <a:prstGeom prst="rect">
            <a:avLst/>
          </a:prstGeom>
          <a:solidFill>
            <a:srgbClr val="FFFFFF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713232" y="2799527"/>
            <a:ext cx="484632" cy="15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930" dirty="0"/>
          </a:p>
        </p:txBody>
      </p:sp>
      <p:sp>
        <p:nvSpPr>
          <p:cNvPr id="47" name="Shape 44"/>
          <p:cNvSpPr/>
          <p:nvPr/>
        </p:nvSpPr>
        <p:spPr>
          <a:xfrm>
            <a:off x="1252728" y="2679192"/>
            <a:ext cx="3749118" cy="429768"/>
          </a:xfrm>
          <a:prstGeom prst="rect">
            <a:avLst/>
          </a:prstGeom>
          <a:solidFill>
            <a:srgbClr val="FFFFFF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1307592" y="2799527"/>
            <a:ext cx="3867912" cy="15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RoBERTa-large hazard + TF-IDF product</a:t>
            </a:r>
            <a:endParaRPr lang="en-US" sz="930" dirty="0"/>
          </a:p>
        </p:txBody>
      </p:sp>
      <p:sp>
        <p:nvSpPr>
          <p:cNvPr id="49" name="Shape 46"/>
          <p:cNvSpPr/>
          <p:nvPr/>
        </p:nvSpPr>
        <p:spPr>
          <a:xfrm>
            <a:off x="5001846" y="2679192"/>
            <a:ext cx="1325880" cy="429768"/>
          </a:xfrm>
          <a:prstGeom prst="rect">
            <a:avLst/>
          </a:prstGeom>
          <a:solidFill>
            <a:srgbClr val="FFFFFF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/>
          <p:nvPr/>
        </p:nvSpPr>
        <p:spPr>
          <a:xfrm>
            <a:off x="5056710" y="2799527"/>
            <a:ext cx="1216152" cy="15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0.7592</a:t>
            </a:r>
            <a:endParaRPr lang="en-US" sz="930" dirty="0"/>
          </a:p>
        </p:txBody>
      </p:sp>
      <p:sp>
        <p:nvSpPr>
          <p:cNvPr id="51" name="Shape 48"/>
          <p:cNvSpPr/>
          <p:nvPr/>
        </p:nvSpPr>
        <p:spPr>
          <a:xfrm>
            <a:off x="6327726" y="2679192"/>
            <a:ext cx="1325880" cy="429768"/>
          </a:xfrm>
          <a:prstGeom prst="rect">
            <a:avLst/>
          </a:prstGeom>
          <a:solidFill>
            <a:srgbClr val="FFFFFF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9"/>
          <p:cNvSpPr/>
          <p:nvPr/>
        </p:nvSpPr>
        <p:spPr>
          <a:xfrm>
            <a:off x="6382590" y="2799527"/>
            <a:ext cx="1216152" cy="15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0.6761</a:t>
            </a:r>
            <a:endParaRPr lang="en-US" sz="930" dirty="0"/>
          </a:p>
        </p:txBody>
      </p:sp>
      <p:sp>
        <p:nvSpPr>
          <p:cNvPr id="53" name="Shape 50"/>
          <p:cNvSpPr/>
          <p:nvPr/>
        </p:nvSpPr>
        <p:spPr>
          <a:xfrm>
            <a:off x="7653606" y="2679192"/>
            <a:ext cx="1097280" cy="429768"/>
          </a:xfrm>
          <a:prstGeom prst="rect">
            <a:avLst/>
          </a:prstGeom>
          <a:solidFill>
            <a:srgbClr val="FFFFFF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1"/>
          <p:cNvSpPr/>
          <p:nvPr/>
        </p:nvSpPr>
        <p:spPr>
          <a:xfrm>
            <a:off x="7708470" y="2799527"/>
            <a:ext cx="987552" cy="15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0.7177</a:t>
            </a:r>
            <a:endParaRPr lang="en-US" sz="930" dirty="0"/>
          </a:p>
        </p:txBody>
      </p:sp>
      <p:sp>
        <p:nvSpPr>
          <p:cNvPr id="55" name="Shape 52"/>
          <p:cNvSpPr/>
          <p:nvPr/>
        </p:nvSpPr>
        <p:spPr>
          <a:xfrm>
            <a:off x="8750886" y="2679192"/>
            <a:ext cx="1097280" cy="429768"/>
          </a:xfrm>
          <a:prstGeom prst="rect">
            <a:avLst/>
          </a:prstGeom>
          <a:solidFill>
            <a:srgbClr val="FFFFFF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3"/>
          <p:cNvSpPr/>
          <p:nvPr/>
        </p:nvSpPr>
        <p:spPr>
          <a:xfrm>
            <a:off x="8805750" y="2799527"/>
            <a:ext cx="987552" cy="15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0.73188</a:t>
            </a:r>
            <a:endParaRPr lang="en-US" sz="930" dirty="0"/>
          </a:p>
        </p:txBody>
      </p:sp>
      <p:sp>
        <p:nvSpPr>
          <p:cNvPr id="57" name="Shape 54"/>
          <p:cNvSpPr/>
          <p:nvPr/>
        </p:nvSpPr>
        <p:spPr>
          <a:xfrm>
            <a:off x="658368" y="3108960"/>
            <a:ext cx="594360" cy="429768"/>
          </a:xfrm>
          <a:prstGeom prst="rect">
            <a:avLst/>
          </a:prstGeom>
          <a:solidFill>
            <a:srgbClr val="F0F3F7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5"/>
          <p:cNvSpPr/>
          <p:nvPr/>
        </p:nvSpPr>
        <p:spPr>
          <a:xfrm>
            <a:off x="713232" y="3229295"/>
            <a:ext cx="484632" cy="15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930" dirty="0"/>
          </a:p>
        </p:txBody>
      </p:sp>
      <p:sp>
        <p:nvSpPr>
          <p:cNvPr id="59" name="Shape 56"/>
          <p:cNvSpPr/>
          <p:nvPr/>
        </p:nvSpPr>
        <p:spPr>
          <a:xfrm>
            <a:off x="1252728" y="3108960"/>
            <a:ext cx="3749118" cy="429768"/>
          </a:xfrm>
          <a:prstGeom prst="rect">
            <a:avLst/>
          </a:prstGeom>
          <a:solidFill>
            <a:srgbClr val="F0F3F7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7"/>
          <p:cNvSpPr/>
          <p:nvPr/>
        </p:nvSpPr>
        <p:spPr>
          <a:xfrm>
            <a:off x="1307592" y="3229295"/>
            <a:ext cx="3867912" cy="15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SBERT embeddings + XGBoost</a:t>
            </a:r>
            <a:endParaRPr lang="en-US" sz="930" dirty="0"/>
          </a:p>
        </p:txBody>
      </p:sp>
      <p:sp>
        <p:nvSpPr>
          <p:cNvPr id="61" name="Shape 58"/>
          <p:cNvSpPr/>
          <p:nvPr/>
        </p:nvSpPr>
        <p:spPr>
          <a:xfrm>
            <a:off x="5001846" y="3108960"/>
            <a:ext cx="1325880" cy="429768"/>
          </a:xfrm>
          <a:prstGeom prst="rect">
            <a:avLst/>
          </a:prstGeom>
          <a:solidFill>
            <a:srgbClr val="F0F3F7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59"/>
          <p:cNvSpPr/>
          <p:nvPr/>
        </p:nvSpPr>
        <p:spPr>
          <a:xfrm>
            <a:off x="5056710" y="3229295"/>
            <a:ext cx="1216152" cy="15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0.5196</a:t>
            </a:r>
            <a:endParaRPr lang="en-US" sz="930" dirty="0"/>
          </a:p>
        </p:txBody>
      </p:sp>
      <p:sp>
        <p:nvSpPr>
          <p:cNvPr id="63" name="Shape 60"/>
          <p:cNvSpPr/>
          <p:nvPr/>
        </p:nvSpPr>
        <p:spPr>
          <a:xfrm>
            <a:off x="6327726" y="3108960"/>
            <a:ext cx="1325880" cy="429768"/>
          </a:xfrm>
          <a:prstGeom prst="rect">
            <a:avLst/>
          </a:prstGeom>
          <a:solidFill>
            <a:srgbClr val="F0F3F7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1"/>
          <p:cNvSpPr/>
          <p:nvPr/>
        </p:nvSpPr>
        <p:spPr>
          <a:xfrm>
            <a:off x="6382590" y="3229295"/>
            <a:ext cx="1216152" cy="15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0.5773</a:t>
            </a:r>
            <a:endParaRPr lang="en-US" sz="930" dirty="0"/>
          </a:p>
        </p:txBody>
      </p:sp>
      <p:sp>
        <p:nvSpPr>
          <p:cNvPr id="65" name="Shape 62"/>
          <p:cNvSpPr/>
          <p:nvPr/>
        </p:nvSpPr>
        <p:spPr>
          <a:xfrm>
            <a:off x="7653606" y="3108960"/>
            <a:ext cx="1097280" cy="429768"/>
          </a:xfrm>
          <a:prstGeom prst="rect">
            <a:avLst/>
          </a:prstGeom>
          <a:solidFill>
            <a:srgbClr val="F0F3F7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3"/>
          <p:cNvSpPr/>
          <p:nvPr/>
        </p:nvSpPr>
        <p:spPr>
          <a:xfrm>
            <a:off x="7708470" y="3229295"/>
            <a:ext cx="987552" cy="15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0.5485</a:t>
            </a:r>
            <a:endParaRPr lang="en-US" sz="930" dirty="0"/>
          </a:p>
        </p:txBody>
      </p:sp>
      <p:sp>
        <p:nvSpPr>
          <p:cNvPr id="67" name="Shape 64"/>
          <p:cNvSpPr/>
          <p:nvPr/>
        </p:nvSpPr>
        <p:spPr>
          <a:xfrm>
            <a:off x="8750886" y="3108960"/>
            <a:ext cx="1097280" cy="429768"/>
          </a:xfrm>
          <a:prstGeom prst="rect">
            <a:avLst/>
          </a:prstGeom>
          <a:solidFill>
            <a:srgbClr val="F0F3F7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5"/>
          <p:cNvSpPr/>
          <p:nvPr/>
        </p:nvSpPr>
        <p:spPr>
          <a:xfrm>
            <a:off x="8805750" y="3229295"/>
            <a:ext cx="987552" cy="15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930" dirty="0"/>
          </a:p>
        </p:txBody>
      </p:sp>
      <p:sp>
        <p:nvSpPr>
          <p:cNvPr id="69" name="Text 66"/>
          <p:cNvSpPr/>
          <p:nvPr/>
        </p:nvSpPr>
        <p:spPr>
          <a:xfrm>
            <a:off x="658368" y="3977640"/>
            <a:ext cx="18288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E989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Observation</a:t>
            </a:r>
            <a:endParaRPr lang="en-US" sz="1500" dirty="0"/>
          </a:p>
        </p:txBody>
      </p:sp>
      <p:sp>
        <p:nvSpPr>
          <p:cNvPr id="70" name="Text 67"/>
          <p:cNvSpPr/>
          <p:nvPr/>
        </p:nvSpPr>
        <p:spPr>
          <a:xfrm>
            <a:off x="658368" y="4315968"/>
            <a:ext cx="585216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RoBERTa-base achieved high validation hazard F1, but its Kaggle score was much lower. SBERT + XGBoost and RoBERTa-large did not justify further tuning because they were heavier and weaker than the tuned sparse pipeline.</a:t>
            </a:r>
            <a:endParaRPr lang="en-US" sz="1300" dirty="0"/>
          </a:p>
        </p:txBody>
      </p:sp>
      <p:sp>
        <p:nvSpPr>
          <p:cNvPr id="71" name="Text 68"/>
          <p:cNvSpPr/>
          <p:nvPr/>
        </p:nvSpPr>
        <p:spPr>
          <a:xfrm>
            <a:off x="6995160" y="3977640"/>
            <a:ext cx="283464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E989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for final system</a:t>
            </a:r>
            <a:endParaRPr lang="en-US" sz="1500" dirty="0"/>
          </a:p>
        </p:txBody>
      </p:sp>
      <p:sp>
        <p:nvSpPr>
          <p:cNvPr id="72" name="Text 69"/>
          <p:cNvSpPr/>
          <p:nvPr/>
        </p:nvSpPr>
        <p:spPr>
          <a:xfrm>
            <a:off x="6995160" y="4315968"/>
            <a:ext cx="352044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replace the whole system with a transformer. Use transformer-style embeddings only as an additional semantic signal where they improved product-category.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24364B"/>
          </a:solidFill>
          <a:ln w="12700">
            <a:solidFill>
              <a:srgbClr val="2436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640080"/>
            <a:ext cx="9784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4364B"/>
                </a:solidFill>
              </a:rPr>
              <a:t>Experiments 20–21: Product Embeddings with Strong TF-IDF Hazard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1133856"/>
            <a:ext cx="10698480" cy="0"/>
          </a:xfrm>
          <a:prstGeom prst="line">
            <a:avLst/>
          </a:prstGeom>
          <a:noFill/>
          <a:ln w="17780">
            <a:solidFill>
              <a:srgbClr val="E989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384280" y="6565392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10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658368" y="1417320"/>
            <a:ext cx="594360" cy="411480"/>
          </a:xfrm>
          <a:prstGeom prst="rect">
            <a:avLst/>
          </a:prstGeom>
          <a:solidFill>
            <a:srgbClr val="24364B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13232" y="1532534"/>
            <a:ext cx="484632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1252728" y="1417320"/>
            <a:ext cx="3726180" cy="411480"/>
          </a:xfrm>
          <a:prstGeom prst="rect">
            <a:avLst/>
          </a:prstGeom>
          <a:solidFill>
            <a:srgbClr val="24364B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307592" y="1532534"/>
            <a:ext cx="4279392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representation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978908" y="1417320"/>
            <a:ext cx="1325880" cy="411480"/>
          </a:xfrm>
          <a:prstGeom prst="rect">
            <a:avLst/>
          </a:prstGeom>
          <a:solidFill>
            <a:srgbClr val="24364B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033772" y="1532534"/>
            <a:ext cx="1216152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Hazard F1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304788" y="1417320"/>
            <a:ext cx="1325880" cy="411480"/>
          </a:xfrm>
          <a:prstGeom prst="rect">
            <a:avLst/>
          </a:prstGeom>
          <a:solidFill>
            <a:srgbClr val="24364B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359652" y="1532534"/>
            <a:ext cx="1216152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F1*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630668" y="1417320"/>
            <a:ext cx="1097280" cy="411480"/>
          </a:xfrm>
          <a:prstGeom prst="rect">
            <a:avLst/>
          </a:prstGeom>
          <a:solidFill>
            <a:srgbClr val="24364B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7685532" y="1532534"/>
            <a:ext cx="987552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8727948" y="1417320"/>
            <a:ext cx="1097280" cy="411480"/>
          </a:xfrm>
          <a:prstGeom prst="rect">
            <a:avLst/>
          </a:prstGeom>
          <a:solidFill>
            <a:srgbClr val="24364B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8782812" y="1532534"/>
            <a:ext cx="987552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Kaggle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1828800"/>
            <a:ext cx="59436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713232" y="1944014"/>
            <a:ext cx="484632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1252728" y="1828800"/>
            <a:ext cx="372618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1307592" y="1944014"/>
            <a:ext cx="4279392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TF-IDF + MPNet embeddings + hazard-token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978908" y="1828800"/>
            <a:ext cx="132588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5033772" y="1944014"/>
            <a:ext cx="1216152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0.8582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6304788" y="1828800"/>
            <a:ext cx="132588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6359652" y="1944014"/>
            <a:ext cx="1216152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0.7669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7630668" y="1828800"/>
            <a:ext cx="109728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7685532" y="1944014"/>
            <a:ext cx="987552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0.8126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8727948" y="1828800"/>
            <a:ext cx="109728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8782812" y="1944014"/>
            <a:ext cx="987552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0.77362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658368" y="2240280"/>
            <a:ext cx="594360" cy="411480"/>
          </a:xfrm>
          <a:prstGeom prst="rect">
            <a:avLst/>
          </a:prstGeom>
          <a:solidFill>
            <a:srgbClr val="F0F3F7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713232" y="2355494"/>
            <a:ext cx="484632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1252728" y="2240280"/>
            <a:ext cx="3726180" cy="411480"/>
          </a:xfrm>
          <a:prstGeom prst="rect">
            <a:avLst/>
          </a:prstGeom>
          <a:solidFill>
            <a:srgbClr val="F0F3F7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1307592" y="2355494"/>
            <a:ext cx="4279392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all-MiniLM-L6-v2 embeddings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4978908" y="2240280"/>
            <a:ext cx="1325880" cy="411480"/>
          </a:xfrm>
          <a:prstGeom prst="rect">
            <a:avLst/>
          </a:prstGeom>
          <a:solidFill>
            <a:srgbClr val="F0F3F7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5033772" y="2355494"/>
            <a:ext cx="1216152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0.8582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6304788" y="2240280"/>
            <a:ext cx="1325880" cy="411480"/>
          </a:xfrm>
          <a:prstGeom prst="rect">
            <a:avLst/>
          </a:prstGeom>
          <a:solidFill>
            <a:srgbClr val="F0F3F7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6359652" y="2355494"/>
            <a:ext cx="1216152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0.7480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7630668" y="2240280"/>
            <a:ext cx="1097280" cy="411480"/>
          </a:xfrm>
          <a:prstGeom prst="rect">
            <a:avLst/>
          </a:prstGeom>
          <a:solidFill>
            <a:srgbClr val="F0F3F7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7685532" y="2355494"/>
            <a:ext cx="987552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0.8031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8727948" y="2240280"/>
            <a:ext cx="1097280" cy="411480"/>
          </a:xfrm>
          <a:prstGeom prst="rect">
            <a:avLst/>
          </a:prstGeom>
          <a:solidFill>
            <a:srgbClr val="F0F3F7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8782812" y="2355494"/>
            <a:ext cx="987552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0.77646</a:t>
            </a:r>
            <a:endParaRPr lang="en-US" sz="950" dirty="0"/>
          </a:p>
        </p:txBody>
      </p:sp>
      <p:sp>
        <p:nvSpPr>
          <p:cNvPr id="45" name="Text 42"/>
          <p:cNvSpPr/>
          <p:nvPr/>
        </p:nvSpPr>
        <p:spPr>
          <a:xfrm>
            <a:off x="658368" y="3063240"/>
            <a:ext cx="18288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E989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improved</a:t>
            </a:r>
            <a:endParaRPr lang="en-US" sz="1500" dirty="0"/>
          </a:p>
        </p:txBody>
      </p:sp>
      <p:sp>
        <p:nvSpPr>
          <p:cNvPr id="46" name="Text 43"/>
          <p:cNvSpPr/>
          <p:nvPr/>
        </p:nvSpPr>
        <p:spPr>
          <a:xfrm>
            <a:off x="658368" y="3401568"/>
            <a:ext cx="512064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hazard model stayed fixed at 0.8582 F1. The improvement came from trying semantic representations for product-category, where product names can be detailed and semantically similar.</a:t>
            </a:r>
            <a:endParaRPr lang="en-US" sz="1300" dirty="0"/>
          </a:p>
        </p:txBody>
      </p:sp>
      <p:sp>
        <p:nvSpPr>
          <p:cNvPr id="47" name="Text 44"/>
          <p:cNvSpPr/>
          <p:nvPr/>
        </p:nvSpPr>
        <p:spPr>
          <a:xfrm>
            <a:off x="6400800" y="3063240"/>
            <a:ext cx="3108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E989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vs Kaggle mismatch</a:t>
            </a:r>
            <a:endParaRPr lang="en-US" sz="1500" dirty="0"/>
          </a:p>
        </p:txBody>
      </p:sp>
      <p:sp>
        <p:nvSpPr>
          <p:cNvPr id="48" name="Text 45"/>
          <p:cNvSpPr/>
          <p:nvPr/>
        </p:nvSpPr>
        <p:spPr>
          <a:xfrm>
            <a:off x="6400800" y="3401568"/>
            <a:ext cx="429768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higher local official score did not always produce a higher Kaggle Public score. This suggested validation-set overfitting and motivated checking both Public and Private performance.</a:t>
            </a:r>
            <a:endParaRPr lang="en-US" sz="1300" dirty="0"/>
          </a:p>
        </p:txBody>
      </p:sp>
      <p:sp>
        <p:nvSpPr>
          <p:cNvPr id="49" name="Text 46"/>
          <p:cNvSpPr/>
          <p:nvPr/>
        </p:nvSpPr>
        <p:spPr>
          <a:xfrm>
            <a:off x="914400" y="4709160"/>
            <a:ext cx="18288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7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0.8126</a:t>
            </a:r>
            <a:endParaRPr lang="en-US" sz="2400" dirty="0"/>
          </a:p>
        </p:txBody>
      </p:sp>
      <p:sp>
        <p:nvSpPr>
          <p:cNvPr id="50" name="Text 47"/>
          <p:cNvSpPr/>
          <p:nvPr/>
        </p:nvSpPr>
        <p:spPr>
          <a:xfrm>
            <a:off x="914400" y="5120640"/>
            <a:ext cx="18288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Exp. 20 local official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2971800" y="4709160"/>
            <a:ext cx="18288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A6F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0.77646</a:t>
            </a:r>
            <a:endParaRPr lang="en-US" sz="2400" dirty="0"/>
          </a:p>
        </p:txBody>
      </p:sp>
      <p:sp>
        <p:nvSpPr>
          <p:cNvPr id="52" name="Text 49"/>
          <p:cNvSpPr/>
          <p:nvPr/>
        </p:nvSpPr>
        <p:spPr>
          <a:xfrm>
            <a:off x="2971800" y="5120640"/>
            <a:ext cx="18288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Exp. 21 Public score</a:t>
            </a:r>
            <a:endParaRPr lang="en-US" sz="1000" dirty="0"/>
          </a:p>
        </p:txBody>
      </p:sp>
      <p:sp>
        <p:nvSpPr>
          <p:cNvPr id="53" name="Text 50"/>
          <p:cNvSpPr/>
          <p:nvPr/>
        </p:nvSpPr>
        <p:spPr>
          <a:xfrm>
            <a:off x="5029200" y="4709160"/>
            <a:ext cx="18288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989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0.8582</a:t>
            </a:r>
            <a:endParaRPr lang="en-US" sz="2400" dirty="0"/>
          </a:p>
        </p:txBody>
      </p:sp>
      <p:sp>
        <p:nvSpPr>
          <p:cNvPr id="54" name="Text 51"/>
          <p:cNvSpPr/>
          <p:nvPr/>
        </p:nvSpPr>
        <p:spPr>
          <a:xfrm>
            <a:off x="5029200" y="5120640"/>
            <a:ext cx="18288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 hazard F1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24364B"/>
          </a:solidFill>
          <a:ln w="12700">
            <a:solidFill>
              <a:srgbClr val="2436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640080"/>
            <a:ext cx="9784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4364B"/>
                </a:solidFill>
              </a:rPr>
              <a:t>Final Selected Model: TF-IDF Hazard + TF-IDF/MiniLM Product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1133856"/>
            <a:ext cx="10698480" cy="0"/>
          </a:xfrm>
          <a:prstGeom prst="line">
            <a:avLst/>
          </a:prstGeom>
          <a:noFill/>
          <a:ln w="17780">
            <a:solidFill>
              <a:srgbClr val="E989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384280" y="6565392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11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58368" y="1298448"/>
            <a:ext cx="71323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system consisted of two separate models, because the two labels benefited from different representations.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103120" y="2267712"/>
            <a:ext cx="0" cy="310896"/>
          </a:xfrm>
          <a:prstGeom prst="line">
            <a:avLst/>
          </a:prstGeom>
          <a:noFill/>
          <a:ln w="13970">
            <a:solidFill>
              <a:srgbClr val="4A6FA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103120" y="3063240"/>
            <a:ext cx="0" cy="301752"/>
          </a:xfrm>
          <a:prstGeom prst="line">
            <a:avLst/>
          </a:prstGeom>
          <a:noFill/>
          <a:ln w="13970">
            <a:solidFill>
              <a:srgbClr val="4A6FA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103120" y="3840480"/>
            <a:ext cx="0" cy="310896"/>
          </a:xfrm>
          <a:prstGeom prst="line">
            <a:avLst/>
          </a:prstGeom>
          <a:noFill/>
          <a:ln w="13970">
            <a:solidFill>
              <a:srgbClr val="4A6FA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7909560" y="2267712"/>
            <a:ext cx="0" cy="310896"/>
          </a:xfrm>
          <a:prstGeom prst="line">
            <a:avLst/>
          </a:prstGeom>
          <a:noFill/>
          <a:ln w="13970">
            <a:solidFill>
              <a:srgbClr val="E9892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7909560" y="3063240"/>
            <a:ext cx="0" cy="301752"/>
          </a:xfrm>
          <a:prstGeom prst="line">
            <a:avLst/>
          </a:prstGeom>
          <a:noFill/>
          <a:ln w="13970">
            <a:solidFill>
              <a:srgbClr val="E9892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7909560" y="3840480"/>
            <a:ext cx="0" cy="310896"/>
          </a:xfrm>
          <a:prstGeom prst="line">
            <a:avLst/>
          </a:prstGeom>
          <a:noFill/>
          <a:ln w="13970">
            <a:solidFill>
              <a:srgbClr val="E9892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914400" y="1783080"/>
            <a:ext cx="2377440" cy="475488"/>
          </a:xfrm>
          <a:prstGeom prst="roundRect">
            <a:avLst>
              <a:gd name="adj" fmla="val 15385"/>
            </a:avLst>
          </a:prstGeom>
          <a:solidFill>
            <a:srgbClr val="E9EEF8"/>
          </a:solidFill>
          <a:ln w="12700">
            <a:solidFill>
              <a:srgbClr val="4A6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005840" y="1938528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title ×2 + text + metadata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914400" y="2578608"/>
            <a:ext cx="2377440" cy="475488"/>
          </a:xfrm>
          <a:prstGeom prst="roundRect">
            <a:avLst>
              <a:gd name="adj" fmla="val 15385"/>
            </a:avLst>
          </a:prstGeom>
          <a:solidFill>
            <a:srgbClr val="E9EEF8"/>
          </a:solidFill>
          <a:ln w="12700">
            <a:solidFill>
              <a:srgbClr val="4A6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1005840" y="2734056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word + char TF-IDF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914400" y="3364992"/>
            <a:ext cx="2377440" cy="475488"/>
          </a:xfrm>
          <a:prstGeom prst="roundRect">
            <a:avLst>
              <a:gd name="adj" fmla="val 15385"/>
            </a:avLst>
          </a:prstGeom>
          <a:solidFill>
            <a:srgbClr val="E9EEF8"/>
          </a:solidFill>
          <a:ln w="12700">
            <a:solidFill>
              <a:srgbClr val="4A6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1005840" y="3520440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SGDClassifier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914400" y="4160520"/>
            <a:ext cx="2377440" cy="475488"/>
          </a:xfrm>
          <a:prstGeom prst="roundRect">
            <a:avLst>
              <a:gd name="adj" fmla="val 15385"/>
            </a:avLst>
          </a:prstGeom>
          <a:solidFill>
            <a:srgbClr val="24364B"/>
          </a:solidFill>
          <a:ln w="12700">
            <a:solidFill>
              <a:srgbClr val="2436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1005840" y="4315968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hazard-category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1005840" y="4919472"/>
            <a:ext cx="21945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A6F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Hazard model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6583680" y="17830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FF0DF"/>
          </a:solidFill>
          <a:ln w="12700">
            <a:solidFill>
              <a:srgbClr val="E989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6675120" y="1938528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title ×3 + text + metadata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0" y="25786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FF0DF"/>
          </a:solidFill>
          <a:ln w="12700">
            <a:solidFill>
              <a:srgbClr val="E989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6675120" y="2734056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TF-IDF + MiniLM embeddings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6583680" y="3364992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FF0DF"/>
          </a:solidFill>
          <a:ln w="12700">
            <a:solidFill>
              <a:srgbClr val="E989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6675120" y="3520440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LinearSVC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583680" y="416052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24364B"/>
          </a:solidFill>
          <a:ln w="12700">
            <a:solidFill>
              <a:srgbClr val="2436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6675120" y="4315968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product-category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6720840" y="4919472"/>
            <a:ext cx="237744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989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model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3840480" y="2743200"/>
            <a:ext cx="22860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class_weight="balanced" used to reduce the effect of class imbalance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24364B"/>
          </a:solidFill>
          <a:ln w="12700">
            <a:solidFill>
              <a:srgbClr val="2436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640080"/>
            <a:ext cx="9784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4364B"/>
                </a:solidFill>
              </a:rPr>
              <a:t>Kaggle Final Evaluation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1133856"/>
            <a:ext cx="10698480" cy="0"/>
          </a:xfrm>
          <a:prstGeom prst="line">
            <a:avLst/>
          </a:prstGeom>
          <a:noFill/>
          <a:ln w="17780">
            <a:solidFill>
              <a:srgbClr val="E989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384280" y="6565392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1</a:t>
            </a:r>
            <a:r>
              <a:rPr lang="el-GR" sz="800" dirty="0">
                <a:solidFill>
                  <a:srgbClr val="FFFFFF"/>
                </a:solidFill>
              </a:rPr>
              <a:t>2</a:t>
            </a:r>
          </a:p>
          <a:p>
            <a:pPr marL="0" indent="0" algn="r">
              <a:buNone/>
            </a:pP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658368" y="1417320"/>
            <a:ext cx="3383280" cy="426720"/>
          </a:xfrm>
          <a:prstGeom prst="rect">
            <a:avLst/>
          </a:prstGeom>
          <a:solidFill>
            <a:srgbClr val="24364B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13232" y="1536802"/>
            <a:ext cx="327355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880" dirty="0"/>
          </a:p>
        </p:txBody>
      </p:sp>
      <p:sp>
        <p:nvSpPr>
          <p:cNvPr id="11" name="Shape 8"/>
          <p:cNvSpPr/>
          <p:nvPr/>
        </p:nvSpPr>
        <p:spPr>
          <a:xfrm>
            <a:off x="4041648" y="1417320"/>
            <a:ext cx="3429000" cy="426720"/>
          </a:xfrm>
          <a:prstGeom prst="rect">
            <a:avLst/>
          </a:prstGeom>
          <a:solidFill>
            <a:srgbClr val="24364B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096512" y="1536802"/>
            <a:ext cx="331927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Submission file</a:t>
            </a:r>
            <a:endParaRPr lang="en-US" sz="880" dirty="0"/>
          </a:p>
        </p:txBody>
      </p:sp>
      <p:sp>
        <p:nvSpPr>
          <p:cNvPr id="13" name="Shape 10"/>
          <p:cNvSpPr/>
          <p:nvPr/>
        </p:nvSpPr>
        <p:spPr>
          <a:xfrm>
            <a:off x="7470648" y="1417320"/>
            <a:ext cx="1188720" cy="426720"/>
          </a:xfrm>
          <a:prstGeom prst="rect">
            <a:avLst/>
          </a:prstGeom>
          <a:solidFill>
            <a:srgbClr val="24364B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525512" y="1536802"/>
            <a:ext cx="107899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</a:t>
            </a:r>
            <a:endParaRPr lang="en-US" sz="880" dirty="0"/>
          </a:p>
        </p:txBody>
      </p:sp>
      <p:sp>
        <p:nvSpPr>
          <p:cNvPr id="15" name="Shape 12"/>
          <p:cNvSpPr/>
          <p:nvPr/>
        </p:nvSpPr>
        <p:spPr>
          <a:xfrm>
            <a:off x="8659368" y="1417320"/>
            <a:ext cx="1188720" cy="426720"/>
          </a:xfrm>
          <a:prstGeom prst="rect">
            <a:avLst/>
          </a:prstGeom>
          <a:solidFill>
            <a:srgbClr val="24364B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714232" y="1536802"/>
            <a:ext cx="107899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</a:t>
            </a:r>
            <a:endParaRPr lang="en-US" sz="880" dirty="0"/>
          </a:p>
        </p:txBody>
      </p:sp>
      <p:sp>
        <p:nvSpPr>
          <p:cNvPr id="17" name="Shape 14"/>
          <p:cNvSpPr/>
          <p:nvPr/>
        </p:nvSpPr>
        <p:spPr>
          <a:xfrm>
            <a:off x="9848088" y="1417320"/>
            <a:ext cx="1188720" cy="426720"/>
          </a:xfrm>
          <a:prstGeom prst="rect">
            <a:avLst/>
          </a:prstGeom>
          <a:solidFill>
            <a:srgbClr val="24364B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9902952" y="1536802"/>
            <a:ext cx="107899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</a:t>
            </a:r>
            <a:endParaRPr lang="en-US" sz="880" dirty="0"/>
          </a:p>
        </p:txBody>
      </p:sp>
      <p:sp>
        <p:nvSpPr>
          <p:cNvPr id="19" name="Shape 16"/>
          <p:cNvSpPr/>
          <p:nvPr/>
        </p:nvSpPr>
        <p:spPr>
          <a:xfrm>
            <a:off x="658368" y="1844040"/>
            <a:ext cx="3383280" cy="426720"/>
          </a:xfrm>
          <a:prstGeom prst="rect">
            <a:avLst/>
          </a:prstGeom>
          <a:solidFill>
            <a:srgbClr val="FFFFFF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13232" y="1963522"/>
            <a:ext cx="327355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all-MiniLM-L6-v2 embeddings</a:t>
            </a:r>
            <a:endParaRPr lang="en-US" sz="880" dirty="0"/>
          </a:p>
        </p:txBody>
      </p:sp>
      <p:sp>
        <p:nvSpPr>
          <p:cNvPr id="21" name="Shape 18"/>
          <p:cNvSpPr/>
          <p:nvPr/>
        </p:nvSpPr>
        <p:spPr>
          <a:xfrm>
            <a:off x="4041648" y="1844040"/>
            <a:ext cx="3429000" cy="426720"/>
          </a:xfrm>
          <a:prstGeom prst="rect">
            <a:avLst/>
          </a:prstGeom>
          <a:solidFill>
            <a:srgbClr val="FFFFFF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096512" y="1963522"/>
            <a:ext cx="331927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all-miniM-L6-v2-submission.csv</a:t>
            </a:r>
            <a:endParaRPr lang="en-US" sz="880" dirty="0"/>
          </a:p>
        </p:txBody>
      </p:sp>
      <p:sp>
        <p:nvSpPr>
          <p:cNvPr id="23" name="Shape 20"/>
          <p:cNvSpPr/>
          <p:nvPr/>
        </p:nvSpPr>
        <p:spPr>
          <a:xfrm>
            <a:off x="7470648" y="1844040"/>
            <a:ext cx="1188720" cy="426720"/>
          </a:xfrm>
          <a:prstGeom prst="rect">
            <a:avLst/>
          </a:prstGeom>
          <a:solidFill>
            <a:srgbClr val="FFFFFF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7525512" y="1963522"/>
            <a:ext cx="107899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0.8031</a:t>
            </a:r>
            <a:endParaRPr lang="en-US" sz="880" dirty="0"/>
          </a:p>
        </p:txBody>
      </p:sp>
      <p:sp>
        <p:nvSpPr>
          <p:cNvPr id="25" name="Shape 22"/>
          <p:cNvSpPr/>
          <p:nvPr/>
        </p:nvSpPr>
        <p:spPr>
          <a:xfrm>
            <a:off x="8659368" y="1844040"/>
            <a:ext cx="1188720" cy="426720"/>
          </a:xfrm>
          <a:prstGeom prst="rect">
            <a:avLst/>
          </a:prstGeom>
          <a:solidFill>
            <a:srgbClr val="FFFFFF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8714232" y="1963522"/>
            <a:ext cx="107899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0.77646</a:t>
            </a:r>
            <a:endParaRPr lang="en-US" sz="880" dirty="0"/>
          </a:p>
        </p:txBody>
      </p:sp>
      <p:sp>
        <p:nvSpPr>
          <p:cNvPr id="27" name="Shape 24"/>
          <p:cNvSpPr/>
          <p:nvPr/>
        </p:nvSpPr>
        <p:spPr>
          <a:xfrm>
            <a:off x="9848088" y="1844040"/>
            <a:ext cx="1188720" cy="426720"/>
          </a:xfrm>
          <a:prstGeom prst="rect">
            <a:avLst/>
          </a:prstGeom>
          <a:solidFill>
            <a:srgbClr val="FFFFFF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9902952" y="1963522"/>
            <a:ext cx="107899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0.76522</a:t>
            </a:r>
            <a:endParaRPr lang="en-US" sz="880" dirty="0"/>
          </a:p>
        </p:txBody>
      </p:sp>
      <p:sp>
        <p:nvSpPr>
          <p:cNvPr id="29" name="Shape 26"/>
          <p:cNvSpPr/>
          <p:nvPr/>
        </p:nvSpPr>
        <p:spPr>
          <a:xfrm>
            <a:off x="658368" y="2270760"/>
            <a:ext cx="3383280" cy="426720"/>
          </a:xfrm>
          <a:prstGeom prst="rect">
            <a:avLst/>
          </a:prstGeom>
          <a:solidFill>
            <a:srgbClr val="F0F3F7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713232" y="2390242"/>
            <a:ext cx="327355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TF-IDF Hazard + TF-IDF/MiniLM Product</a:t>
            </a:r>
            <a:endParaRPr lang="en-US" sz="880" dirty="0"/>
          </a:p>
        </p:txBody>
      </p:sp>
      <p:sp>
        <p:nvSpPr>
          <p:cNvPr id="31" name="Shape 28"/>
          <p:cNvSpPr/>
          <p:nvPr/>
        </p:nvSpPr>
        <p:spPr>
          <a:xfrm>
            <a:off x="4041648" y="2270760"/>
            <a:ext cx="3429000" cy="426720"/>
          </a:xfrm>
          <a:prstGeom prst="rect">
            <a:avLst/>
          </a:prstGeom>
          <a:solidFill>
            <a:srgbClr val="F0F3F7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4096512" y="2390242"/>
            <a:ext cx="331927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submission_tfidf_minilm_product.csv</a:t>
            </a:r>
            <a:endParaRPr lang="en-US" sz="880" dirty="0"/>
          </a:p>
        </p:txBody>
      </p:sp>
      <p:sp>
        <p:nvSpPr>
          <p:cNvPr id="33" name="Shape 30"/>
          <p:cNvSpPr/>
          <p:nvPr/>
        </p:nvSpPr>
        <p:spPr>
          <a:xfrm>
            <a:off x="7470648" y="2270760"/>
            <a:ext cx="1188720" cy="426720"/>
          </a:xfrm>
          <a:prstGeom prst="rect">
            <a:avLst/>
          </a:prstGeom>
          <a:solidFill>
            <a:srgbClr val="F0F3F7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7525512" y="2390242"/>
            <a:ext cx="107899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0.8135</a:t>
            </a:r>
            <a:endParaRPr lang="en-US" sz="880" dirty="0"/>
          </a:p>
        </p:txBody>
      </p:sp>
      <p:sp>
        <p:nvSpPr>
          <p:cNvPr id="35" name="Shape 32"/>
          <p:cNvSpPr/>
          <p:nvPr/>
        </p:nvSpPr>
        <p:spPr>
          <a:xfrm>
            <a:off x="8659368" y="2270760"/>
            <a:ext cx="1188720" cy="426720"/>
          </a:xfrm>
          <a:prstGeom prst="rect">
            <a:avLst/>
          </a:prstGeom>
          <a:solidFill>
            <a:srgbClr val="F0F3F7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8714232" y="2390242"/>
            <a:ext cx="107899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0.77619</a:t>
            </a:r>
            <a:endParaRPr lang="en-US" sz="880" dirty="0"/>
          </a:p>
        </p:txBody>
      </p:sp>
      <p:sp>
        <p:nvSpPr>
          <p:cNvPr id="37" name="Shape 34"/>
          <p:cNvSpPr/>
          <p:nvPr/>
        </p:nvSpPr>
        <p:spPr>
          <a:xfrm>
            <a:off x="9848088" y="2270760"/>
            <a:ext cx="1188720" cy="426720"/>
          </a:xfrm>
          <a:prstGeom prst="rect">
            <a:avLst/>
          </a:prstGeom>
          <a:solidFill>
            <a:srgbClr val="F0F3F7"/>
          </a:solidFill>
          <a:ln w="571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9902952" y="2390242"/>
            <a:ext cx="107899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0.76871</a:t>
            </a:r>
            <a:endParaRPr lang="en-US" sz="880" dirty="0"/>
          </a:p>
        </p:txBody>
      </p:sp>
      <p:sp>
        <p:nvSpPr>
          <p:cNvPr id="39" name="Text 36"/>
          <p:cNvSpPr/>
          <p:nvPr/>
        </p:nvSpPr>
        <p:spPr>
          <a:xfrm>
            <a:off x="2313432" y="3305556"/>
            <a:ext cx="19202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989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0.76871</a:t>
            </a:r>
            <a:endParaRPr lang="en-US" sz="2400" dirty="0"/>
          </a:p>
        </p:txBody>
      </p:sp>
      <p:sp>
        <p:nvSpPr>
          <p:cNvPr id="40" name="Text 37"/>
          <p:cNvSpPr/>
          <p:nvPr/>
        </p:nvSpPr>
        <p:spPr>
          <a:xfrm>
            <a:off x="2313432" y="3717036"/>
            <a:ext cx="19202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Private score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4553712" y="3305556"/>
            <a:ext cx="19202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A6F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0.77619</a:t>
            </a:r>
            <a:endParaRPr lang="en-US" sz="2400" dirty="0"/>
          </a:p>
        </p:txBody>
      </p:sp>
      <p:sp>
        <p:nvSpPr>
          <p:cNvPr id="42" name="Text 39"/>
          <p:cNvSpPr/>
          <p:nvPr/>
        </p:nvSpPr>
        <p:spPr>
          <a:xfrm>
            <a:off x="4553712" y="3717036"/>
            <a:ext cx="19202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score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6793992" y="3305556"/>
            <a:ext cx="19202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7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0.00748</a:t>
            </a:r>
            <a:endParaRPr lang="en-US" sz="2400" dirty="0"/>
          </a:p>
        </p:txBody>
      </p:sp>
      <p:sp>
        <p:nvSpPr>
          <p:cNvPr id="44" name="Text 41"/>
          <p:cNvSpPr/>
          <p:nvPr/>
        </p:nvSpPr>
        <p:spPr>
          <a:xfrm>
            <a:off x="6793992" y="3717036"/>
            <a:ext cx="19202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Public–Private gap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658368" y="4617720"/>
            <a:ext cx="21945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E989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decision</a:t>
            </a:r>
            <a:endParaRPr lang="en-US" sz="1500" dirty="0"/>
          </a:p>
        </p:txBody>
      </p:sp>
      <p:sp>
        <p:nvSpPr>
          <p:cNvPr id="46" name="Text 43"/>
          <p:cNvSpPr/>
          <p:nvPr/>
        </p:nvSpPr>
        <p:spPr>
          <a:xfrm>
            <a:off x="658368" y="4956048"/>
            <a:ext cx="585216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Although all-MiniLM had a slightly better Public score, the TF-IDF Hazard + TF-IDF/MiniLM Product model achieved the better Private score. Since the Private leaderboard is the final Kaggle evaluation, it was selected as the final system.</a:t>
            </a:r>
            <a:endParaRPr lang="en-US" sz="1300" dirty="0"/>
          </a:p>
        </p:txBody>
      </p:sp>
      <p:sp>
        <p:nvSpPr>
          <p:cNvPr id="47" name="Text 44"/>
          <p:cNvSpPr/>
          <p:nvPr/>
        </p:nvSpPr>
        <p:spPr>
          <a:xfrm>
            <a:off x="7360920" y="4617720"/>
            <a:ext cx="21945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E989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Ranking note</a:t>
            </a:r>
            <a:endParaRPr lang="en-US" sz="1500" dirty="0"/>
          </a:p>
        </p:txBody>
      </p:sp>
      <p:sp>
        <p:nvSpPr>
          <p:cNvPr id="48" name="Text 45"/>
          <p:cNvSpPr/>
          <p:nvPr/>
        </p:nvSpPr>
        <p:spPr>
          <a:xfrm>
            <a:off x="7360920" y="4956048"/>
            <a:ext cx="324612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team reached around position 18 during the public phase, finished around 25 publicly, and around 54 after Private evaluation.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24364B"/>
          </a:solidFill>
          <a:ln w="12700">
            <a:solidFill>
              <a:srgbClr val="2436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640080"/>
            <a:ext cx="9784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4364B"/>
                </a:solidFill>
              </a:rPr>
              <a:t>Limitations and Computational Setup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1133856"/>
            <a:ext cx="10698480" cy="0"/>
          </a:xfrm>
          <a:prstGeom prst="line">
            <a:avLst/>
          </a:prstGeom>
          <a:noFill/>
          <a:ln w="17780">
            <a:solidFill>
              <a:srgbClr val="E989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384280" y="6565392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1</a:t>
            </a:r>
            <a:r>
              <a:rPr lang="el-GR" sz="800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" name="Text 6"/>
          <p:cNvSpPr/>
          <p:nvPr/>
        </p:nvSpPr>
        <p:spPr>
          <a:xfrm>
            <a:off x="658368" y="1325880"/>
            <a:ext cx="18288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E989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58368" y="1783080"/>
            <a:ext cx="320040" cy="310896"/>
          </a:xfrm>
          <a:prstGeom prst="roundRect">
            <a:avLst>
              <a:gd name="adj" fmla="val 23529"/>
            </a:avLst>
          </a:prstGeom>
          <a:solidFill>
            <a:srgbClr val="E9892A"/>
          </a:solidFill>
          <a:ln w="12700">
            <a:solidFill>
              <a:srgbClr val="E989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31520" y="1837944"/>
            <a:ext cx="1737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78992" y="1792224"/>
            <a:ext cx="46177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class imbalance: rare hazard and product classes had very few examples.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58368" y="2560320"/>
            <a:ext cx="320040" cy="310896"/>
          </a:xfrm>
          <a:prstGeom prst="roundRect">
            <a:avLst>
              <a:gd name="adj" fmla="val 23529"/>
            </a:avLst>
          </a:prstGeom>
          <a:solidFill>
            <a:srgbClr val="E9892A"/>
          </a:solidFill>
          <a:ln w="12700">
            <a:solidFill>
              <a:srgbClr val="E989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31520" y="2615184"/>
            <a:ext cx="1737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78992" y="2569464"/>
            <a:ext cx="46177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score did not always match Kaggle score, suggesting the validation split was not fully representative.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58368" y="3337560"/>
            <a:ext cx="320040" cy="310896"/>
          </a:xfrm>
          <a:prstGeom prst="roundRect">
            <a:avLst>
              <a:gd name="adj" fmla="val 23529"/>
            </a:avLst>
          </a:prstGeom>
          <a:solidFill>
            <a:srgbClr val="E9892A"/>
          </a:solidFill>
          <a:ln w="12700">
            <a:solidFill>
              <a:srgbClr val="E989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31520" y="3392424"/>
            <a:ext cx="1737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078992" y="3346704"/>
            <a:ext cx="46177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Product-category was harder because classes were more detailed and sometimes similar.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492240" y="1325880"/>
            <a:ext cx="27432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E989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Computational setup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492240" y="1783080"/>
            <a:ext cx="320040" cy="310896"/>
          </a:xfrm>
          <a:prstGeom prst="roundRect">
            <a:avLst>
              <a:gd name="adj" fmla="val 23529"/>
            </a:avLst>
          </a:prstGeom>
          <a:solidFill>
            <a:srgbClr val="4A6FAE"/>
          </a:solidFill>
          <a:ln w="12700">
            <a:solidFill>
              <a:srgbClr val="4A6FA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565392" y="1837944"/>
            <a:ext cx="1737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912864" y="1792224"/>
            <a:ext cx="40690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implementation in Google Colab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492240" y="2423160"/>
            <a:ext cx="320040" cy="310896"/>
          </a:xfrm>
          <a:prstGeom prst="roundRect">
            <a:avLst>
              <a:gd name="adj" fmla="val 23529"/>
            </a:avLst>
          </a:prstGeom>
          <a:solidFill>
            <a:srgbClr val="4A6FAE"/>
          </a:solidFill>
          <a:ln w="12700">
            <a:solidFill>
              <a:srgbClr val="4A6FA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565392" y="2478024"/>
            <a:ext cx="1737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912864" y="2432304"/>
            <a:ext cx="40690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stored in Google Drive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6492240" y="3063240"/>
            <a:ext cx="320040" cy="310896"/>
          </a:xfrm>
          <a:prstGeom prst="roundRect">
            <a:avLst>
              <a:gd name="adj" fmla="val 23529"/>
            </a:avLst>
          </a:prstGeom>
          <a:solidFill>
            <a:srgbClr val="4A6FAE"/>
          </a:solidFill>
          <a:ln w="12700">
            <a:solidFill>
              <a:srgbClr val="4A6FA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6565392" y="3118104"/>
            <a:ext cx="1737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912864" y="3072384"/>
            <a:ext cx="40690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Classical TF-IDF models were lightweight and fast on CPU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6492240" y="3703320"/>
            <a:ext cx="320040" cy="310896"/>
          </a:xfrm>
          <a:prstGeom prst="roundRect">
            <a:avLst>
              <a:gd name="adj" fmla="val 23529"/>
            </a:avLst>
          </a:prstGeom>
          <a:solidFill>
            <a:srgbClr val="4A6FAE"/>
          </a:solidFill>
          <a:ln w="12700">
            <a:solidFill>
              <a:srgbClr val="4A6FA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6565392" y="3758184"/>
            <a:ext cx="1737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6912864" y="3712464"/>
            <a:ext cx="40690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CUDA / Colab T4 GPU used when available for MiniLM, MPNet and RoBERTa experiments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24364B"/>
          </a:solidFill>
          <a:ln w="12700">
            <a:solidFill>
              <a:srgbClr val="2436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3840480" y="973836"/>
            <a:ext cx="43891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Food Hazard Detection ST1 Challenge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3649395" y="2779561"/>
            <a:ext cx="18288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989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0.76871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3695115" y="3428785"/>
            <a:ext cx="18288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Private score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668086" y="2779561"/>
            <a:ext cx="20574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A6F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TF-IDF + MiniLM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668086" y="3419641"/>
            <a:ext cx="20574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model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773168" y="4418838"/>
            <a:ext cx="26517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14" name="Text 11"/>
          <p:cNvSpPr/>
          <p:nvPr/>
        </p:nvSpPr>
        <p:spPr>
          <a:xfrm>
            <a:off x="11384280" y="6565392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1</a:t>
            </a:r>
            <a:r>
              <a:rPr lang="el-GR" sz="800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1404</Words>
  <Application>Microsoft Office PowerPoint</Application>
  <PresentationFormat>Widescreen</PresentationFormat>
  <Paragraphs>355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University of Ioannina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Food Hazard Detection ST1 Challenge</dc:title>
  <dc:subject>Food Hazard Detection ST1 Challenge</dc:subject>
  <dc:creator>OpenAI</dc:creator>
  <cp:lastModifiedBy>elena papazoglou</cp:lastModifiedBy>
  <cp:revision>5</cp:revision>
  <dcterms:created xsi:type="dcterms:W3CDTF">2026-06-11T13:01:34Z</dcterms:created>
  <dcterms:modified xsi:type="dcterms:W3CDTF">2026-06-14T10:52:57Z</dcterms:modified>
</cp:coreProperties>
</file>